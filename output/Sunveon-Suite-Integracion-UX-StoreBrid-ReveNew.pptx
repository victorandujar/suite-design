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01"/>
    <p:sldId id="257" r:id="rId102"/>
    <p:sldId id="258" r:id="rId103"/>
    <p:sldId id="259" r:id="rId104"/>
    <p:sldId id="260" r:id="rId105"/>
    <p:sldId id="261" r:id="rId106"/>
    <p:sldId id="262" r:id="rId107"/>
    <p:sldId id="263" r:id="rId108"/>
    <p:sldId id="264" r:id="rId109"/>
    <p:sldId id="265" r:id="rId110"/>
    <p:sldId id="266" r:id="rId111"/>
    <p:sldId id="267" r:id="rId112"/>
    <p:sldId id="268" r:id="rId113"/>
    <p:sldId id="269" r:id="rId114"/>
    <p:sldId id="270" r:id="rId115"/>
    <p:sldId id="271" r:id="rId116"/>
    <p:sldId id="272" r:id="rId117"/>
    <p:sldId id="273" r:id="rId118"/>
    <p:sldId id="274" r:id="rId119"/>
    <p:sldId id="275" r:id="rId120"/>
    <p:sldId id="276" r:id="rId121"/>
    <p:sldId id="277" r:id="rId122"/>
    <p:sldId id="278" r:id="rId123"/>
    <p:sldId id="279" r:id="rId124"/>
    <p:sldId id="280" r:id="rId125"/>
    <p:sldId id="281" r:id="rId126"/>
    <p:sldId id="282" r:id="rId127"/>
    <p:sldId id="283" r:id="rId128"/>
    <p:sldId id="284" r:id="rId129"/>
    <p:sldId id="285" r:id="rId130"/>
    <p:sldId id="286" r:id="rId131"/>
    <p:sldId id="287" r:id="rId132"/>
    <p:sldId id="288" r:id="rId133"/>
    <p:sldId id="289" r:id="rId134"/>
    <p:sldId id="290" r:id="rId135"/>
    <p:sldId id="291" r:id="rId136"/>
    <p:sldId id="292" r:id="rId137"/>
    <p:sldId id="293" r:id="rId138"/>
    <p:sldId id="294" r:id="rId139"/>
    <p:sldId id="295" r:id="rId140"/>
    <p:sldId id="296" r:id="rId141"/>
    <p:sldId id="297" r:id="rId142"/>
    <p:sldId id="298" r:id="rId143"/>
    <p:sldId id="299" r:id="rId144"/>
    <p:sldId id="300" r:id="rId145"/>
    <p:sldId id="301" r:id="rId146"/>
    <p:sldId id="302" r:id="rId147"/>
    <p:sldId id="303" r:id="rId148"/>
  </p:sldIdLst>
  <p:sldSz cx="12191969" cy="6858000"/>
  <p:notesSz cx="6858000" cy="9144000"/>
  <p:defaultTextStyle>
    <a:defPPr>
      <a:defRPr lang="es-ES"/>
    </a:defPPr>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 Id="rId117" Type="http://schemas.openxmlformats.org/officeDocument/2006/relationships/slide" Target="slides/slide17.xml"/><Relationship Id="rId118" Type="http://schemas.openxmlformats.org/officeDocument/2006/relationships/slide" Target="slides/slide18.xml"/><Relationship Id="rId119" Type="http://schemas.openxmlformats.org/officeDocument/2006/relationships/slide" Target="slides/slide19.xml"/><Relationship Id="rId120" Type="http://schemas.openxmlformats.org/officeDocument/2006/relationships/slide" Target="slides/slide20.xml"/><Relationship Id="rId121" Type="http://schemas.openxmlformats.org/officeDocument/2006/relationships/slide" Target="slides/slide21.xml"/><Relationship Id="rId122" Type="http://schemas.openxmlformats.org/officeDocument/2006/relationships/slide" Target="slides/slide22.xml"/><Relationship Id="rId123" Type="http://schemas.openxmlformats.org/officeDocument/2006/relationships/slide" Target="slides/slide23.xml"/><Relationship Id="rId124" Type="http://schemas.openxmlformats.org/officeDocument/2006/relationships/slide" Target="slides/slide24.xml"/><Relationship Id="rId125" Type="http://schemas.openxmlformats.org/officeDocument/2006/relationships/slide" Target="slides/slide25.xml"/><Relationship Id="rId126" Type="http://schemas.openxmlformats.org/officeDocument/2006/relationships/slide" Target="slides/slide26.xml"/><Relationship Id="rId127" Type="http://schemas.openxmlformats.org/officeDocument/2006/relationships/slide" Target="slides/slide27.xml"/><Relationship Id="rId128" Type="http://schemas.openxmlformats.org/officeDocument/2006/relationships/slide" Target="slides/slide28.xml"/><Relationship Id="rId129" Type="http://schemas.openxmlformats.org/officeDocument/2006/relationships/slide" Target="slides/slide29.xml"/><Relationship Id="rId130" Type="http://schemas.openxmlformats.org/officeDocument/2006/relationships/slide" Target="slides/slide30.xml"/><Relationship Id="rId131" Type="http://schemas.openxmlformats.org/officeDocument/2006/relationships/slide" Target="slides/slide31.xml"/><Relationship Id="rId132" Type="http://schemas.openxmlformats.org/officeDocument/2006/relationships/slide" Target="slides/slide32.xml"/><Relationship Id="rId133" Type="http://schemas.openxmlformats.org/officeDocument/2006/relationships/slide" Target="slides/slide33.xml"/><Relationship Id="rId134" Type="http://schemas.openxmlformats.org/officeDocument/2006/relationships/slide" Target="slides/slide34.xml"/><Relationship Id="rId135" Type="http://schemas.openxmlformats.org/officeDocument/2006/relationships/slide" Target="slides/slide35.xml"/><Relationship Id="rId136" Type="http://schemas.openxmlformats.org/officeDocument/2006/relationships/slide" Target="slides/slide36.xml"/><Relationship Id="rId137" Type="http://schemas.openxmlformats.org/officeDocument/2006/relationships/slide" Target="slides/slide37.xml"/><Relationship Id="rId138" Type="http://schemas.openxmlformats.org/officeDocument/2006/relationships/slide" Target="slides/slide38.xml"/><Relationship Id="rId139" Type="http://schemas.openxmlformats.org/officeDocument/2006/relationships/slide" Target="slides/slide39.xml"/><Relationship Id="rId140" Type="http://schemas.openxmlformats.org/officeDocument/2006/relationships/slide" Target="slides/slide40.xml"/><Relationship Id="rId141" Type="http://schemas.openxmlformats.org/officeDocument/2006/relationships/slide" Target="slides/slide41.xml"/><Relationship Id="rId142" Type="http://schemas.openxmlformats.org/officeDocument/2006/relationships/slide" Target="slides/slide42.xml"/><Relationship Id="rId143" Type="http://schemas.openxmlformats.org/officeDocument/2006/relationships/slide" Target="slides/slide43.xml"/><Relationship Id="rId144" Type="http://schemas.openxmlformats.org/officeDocument/2006/relationships/slide" Target="slides/slide44.xml"/><Relationship Id="rId145" Type="http://schemas.openxmlformats.org/officeDocument/2006/relationships/slide" Target="slides/slide45.xml"/><Relationship Id="rId146" Type="http://schemas.openxmlformats.org/officeDocument/2006/relationships/slide" Target="slides/slide46.xml"/><Relationship Id="rId147" Type="http://schemas.openxmlformats.org/officeDocument/2006/relationships/slide" Target="slides/slide47.xml"/><Relationship Id="rId148" Type="http://schemas.openxmlformats.org/officeDocument/2006/relationships/slide" Target="slides/slide48.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1"/>
          <p:cNvSpPr>
            <a:spLocks noGrp="1"/>
          </p:cNvSpPr>
          <p:nvPr>
            <p:ph type="body" idx="1"/>
          </p:nvPr>
        </p:nvSpPr>
        <p:spPr>
          <a:xfrm>
            <a:off x="685800" y="4343400"/>
            <a:ext cx="5486400" cy="4114800"/>
          </a:xfrm>
          <a:prstGeom prst="rect">
            <a:avLst/>
          </a:prstGeom>
        </p:spPr>
        <p:txBody>
          <a:bodyPr/>
          <a:lstStyle/>
          <a:p>
            <a:endParaRPr lang="es-ES"/>
          </a:p>
        </p:txBody>
      </p:sp>
    </p:spTree>
  </p:cSld>
  <p:clrMap bg1="lt1" tx1="dk1" bg2="lt2" tx2="dk2" accent1="accent1" accent2="accent2" accent3="accent3" accent4="accent4" accent5="accent5" accent6="accent6" hlink="hlink" folHlink="folHlink"/>
  <p:notesStyle>
    <a:lvl1pPr>
      <a:defRPr sz="1200"/>
    </a:lvl1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Portada — Sunveon Suite</a:t>
            </a:r>
          </a:p>
          <a:p>
            <a:endParaRPr lang="es-ES" sz="1200"/>
          </a:p>
          <a:p>
            <a:r>
              <a:rPr lang="es-ES" sz="1200" b="1" dirty="0"/>
              <a:t>QUÉ COMUNICA</a:t>
            </a:r>
          </a:p>
          <a:p>
            <a:r>
              <a:rPr lang="es-ES" sz="1200" b="0" dirty="0"/>
              <a:t>Presenta la propuesta: StoreBrid y ReveNew dejan de ser dos aplicaciones que se consultan por separado y pasan a compartir un espacio de decisión. La cadena inferior fija desde el primer segundo los tres actores y sus colores: azul StoreBrid (motor técnico), teal Suite (capa de decisión), magenta ReveNew (motor financiero).</a:t>
            </a:r>
          </a:p>
          <a:p>
            <a:endParaRPr lang="es-ES" sz="1200"/>
          </a:p>
          <a:p>
            <a:r>
              <a:rPr lang="es-ES" sz="1200" b="1" dirty="0"/>
              <a:t>POR QUÉ ESTÁ AQUÍ</a:t>
            </a:r>
          </a:p>
          <a:p>
            <a:r>
              <a:rPr lang="es-ES" sz="1200" b="0" dirty="0"/>
              <a:t>El código de color que aparece aquí se mantiene en las 45 diapositivas siguientes. Establecerlo al principio permite que, en cualquier pantalla posterior, el cliente sepa de un vistazo qué dato viene de qué motor sin tener que leer una leyenda.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Propuesta de valor</a:t>
            </a:r>
          </a:p>
          <a:p>
            <a:endParaRPr lang="es-ES" sz="1200"/>
          </a:p>
          <a:p>
            <a:r>
              <a:rPr lang="es-ES" sz="1200" b="1" dirty="0"/>
              <a:t>QUÉ COMUNICA</a:t>
            </a:r>
          </a:p>
          <a:p>
            <a:r>
              <a:rPr lang="es-ES" sz="1200" b="0" dirty="0"/>
              <a:t>Resume en tres bloques por qué esta integración importa: el problema que resuelve (la decisión vive hoy partida entre dos aplicaciones), para quién es (ingeniería y negocio decidiendo sobre la misma configuración) y qué la diferencia (introduce un objeto propio, el analysis case, en lugar de yuxtaponer métricas).</a:t>
            </a:r>
          </a:p>
          <a:p>
            <a:endParaRPr lang="es-ES" sz="1200"/>
          </a:p>
          <a:p>
            <a:r>
              <a:rPr lang="es-ES" sz="1200" b="1" dirty="0"/>
              <a:t>POR QUÉ ESTÁ AQUÍ</a:t>
            </a:r>
          </a:p>
          <a:p>
            <a:r>
              <a:rPr lang="es-ES" sz="1200" b="0" dirty="0"/>
              <a:t>Es la diapositiva que responde a la objeción más probable del cliente: «¿esto no es un dashboard que junta indicadores de los dos productos?». La regla de producto del pie es el criterio que ha gobernado cada decisión de alcance del proyecto: lo que sirve para configurar en profundidad se queda en su motor; lo que sirve para entender el impacto conjunto, comparar y decidir, vive en la Suite.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Modelo de producto</a:t>
            </a:r>
          </a:p>
          <a:p>
            <a:endParaRPr lang="es-ES" sz="1200"/>
          </a:p>
          <a:p>
            <a:r>
              <a:rPr lang="es-ES" sz="1200" b="1" dirty="0"/>
              <a:t>QUÉ COMUNICA</a:t>
            </a:r>
          </a:p>
          <a:p>
            <a:r>
              <a:rPr lang="es-ES" sz="1200" b="0" dirty="0"/>
              <a:t>El modelo de dominio en una imagen: un proyecto compartido, una simulación técnica de StoreBrid, un caso financiero de ReveNew y, uniéndolos, el analysis case. A la derecha, el recorrido de cinco pasos — Understand, Explore, Compare, Decide y, solo si hace falta, edición profunda en el motor correspondiente.</a:t>
            </a:r>
          </a:p>
          <a:p>
            <a:endParaRPr lang="es-ES" sz="1200"/>
          </a:p>
          <a:p>
            <a:r>
              <a:rPr lang="es-ES" sz="1200" b="1" dirty="0"/>
              <a:t>POR QUÉ ESTÁ AQUÍ</a:t>
            </a:r>
          </a:p>
          <a:p>
            <a:r>
              <a:rPr lang="es-ES" sz="1200" b="0" dirty="0"/>
              <a:t>Sin este modelo las pantallas siguientes se leen como una colección de vistas. Con él se leen como un recorrido. También deja explícito el límite del alcance: la Suite no crea simulaciones ni modelos financieros, empareja los que ya existen.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Flujos de extremo a extremo (1 de 2)</a:t>
            </a:r>
          </a:p>
          <a:p>
            <a:endParaRPr lang="es-ES" sz="1200"/>
          </a:p>
          <a:p>
            <a:r>
              <a:rPr lang="es-ES" sz="1200" b="1" dirty="0"/>
              <a:t>QUÉ COMUNICA</a:t>
            </a:r>
          </a:p>
          <a:p>
            <a:r>
              <a:rPr lang="es-ES" sz="1200" b="0" dirty="0"/>
              <a:t>Los recorridos completos, paso a paso, con el color indicando dónde ocurre cada uno: azul en StoreBrid, magenta en ReveNew, teal en la Suite.</a:t>
            </a:r>
          </a:p>
          <a:p>
            <a:endParaRPr lang="es-ES" sz="1200"/>
          </a:p>
          <a:p>
            <a:r>
              <a:rPr lang="es-ES" sz="1200" b="1" dirty="0"/>
              <a:t>POR QUÉ ESTÁ AQUÍ</a:t>
            </a:r>
          </a:p>
          <a:p>
            <a:r>
              <a:rPr lang="es-ES" sz="1200" b="0" dirty="0"/>
              <a:t>Es la comprobación de coherencia de toda la propuesta. Si un flujo obligara a saltar de producto en producto sin motivo, se vería aquí. La forma del producto queda visible en el color: la Suite es donde los dos motores se encuentran, y toda edición profunda sale hacia el producto que la posee.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Flujos de extremo a extremo (2 de 2)</a:t>
            </a:r>
          </a:p>
          <a:p>
            <a:endParaRPr lang="es-ES" sz="1200"/>
          </a:p>
          <a:p>
            <a:r>
              <a:rPr lang="es-ES" sz="1200" b="1" dirty="0"/>
              <a:t>QUÉ COMUNICA</a:t>
            </a:r>
          </a:p>
          <a:p>
            <a:r>
              <a:rPr lang="es-ES" sz="1200" b="0" dirty="0"/>
              <a:t>Continuación de los recorridos: creación de un analysis case, comparación, decisión y los casos en los que el usuario sale hacia StoreBrid o ReveNew.</a:t>
            </a:r>
          </a:p>
          <a:p>
            <a:endParaRPr lang="es-ES" sz="1200"/>
          </a:p>
          <a:p>
            <a:r>
              <a:rPr lang="es-ES" sz="1200" b="1" dirty="0"/>
              <a:t>POR QUÉ ESTÁ AQUÍ</a:t>
            </a:r>
          </a:p>
          <a:p>
            <a:r>
              <a:rPr lang="es-ES" sz="1200" b="0" dirty="0"/>
              <a:t>Cierra el mapa mostrando que cada salida a un motor externo tiene un punto de retorno claro a la Suite. Ningún flujo termina fuera.</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Home — la página de aterrizaje (1 de 2)</a:t>
            </a:r>
          </a:p>
          <a:p>
            <a:endParaRPr lang="es-ES" sz="1200"/>
          </a:p>
          <a:p>
            <a:r>
              <a:rPr lang="es-ES" sz="1200" b="1" dirty="0"/>
              <a:t>QUÉ COMUNICA</a:t>
            </a:r>
          </a:p>
          <a:p>
            <a:r>
              <a:rPr lang="es-ES" sz="1200" b="0" dirty="0"/>
              <a:t>El punto de entrada a la organización: saludo, indicadores del workspace, proyectos recientes y rendimiento agregado de la cartera. La fila de KPIs cuenta los objetos con los que la gente trabaja de verdad — portfolios, simulaciones, modelos financieros — junto a las dos cifras de salida.</a:t>
            </a:r>
          </a:p>
          <a:p>
            <a:endParaRPr lang="es-ES" sz="1200"/>
          </a:p>
          <a:p>
            <a:r>
              <a:rPr lang="es-ES" sz="1200" b="1" dirty="0"/>
              <a:t>POR QUÉ ESTÁ AQUÍ</a:t>
            </a:r>
          </a:p>
          <a:p>
            <a:r>
              <a:rPr lang="es-ES" sz="1200" b="0" dirty="0"/>
              <a:t>Fija la escala mental correcta antes de entrar en un proyecto: la Suite es multi-proyecto. También evita el error de representar a ReveNew a través de «escenarios»: aquí ReveNew aparece por sus objetos reales.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Home — actividad y lectura de cartera (2 de 2)</a:t>
            </a:r>
          </a:p>
          <a:p>
            <a:endParaRPr lang="es-ES" sz="1200"/>
          </a:p>
          <a:p>
            <a:r>
              <a:rPr lang="es-ES" sz="1200" b="1" dirty="0"/>
              <a:t>QUÉ COMUNICA</a:t>
            </a:r>
          </a:p>
          <a:p>
            <a:r>
              <a:rPr lang="es-ES" sz="1200" b="0" dirty="0"/>
              <a:t>La mitad inferior: actividad reciente de los tres orígenes y lecturas agregadas de la cartera.</a:t>
            </a:r>
          </a:p>
          <a:p>
            <a:endParaRPr lang="es-ES" sz="1200"/>
          </a:p>
          <a:p>
            <a:r>
              <a:rPr lang="es-ES" sz="1200" b="1" dirty="0"/>
              <a:t>POR QUÉ ESTÁ AQUÍ</a:t>
            </a:r>
          </a:p>
          <a:p>
            <a:r>
              <a:rPr lang="es-ES" sz="1200" b="0" dirty="0"/>
              <a:t>Da continuidad entre sesiones. Quien vuelve al producto necesita saber qué ha cambiado desde la última vez y en qué motor ha cambiado, sin abrir proyecto por proyecto.</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Projects — el registro único</a:t>
            </a:r>
          </a:p>
          <a:p>
            <a:endParaRPr lang="es-ES" sz="1200"/>
          </a:p>
          <a:p>
            <a:r>
              <a:rPr lang="es-ES" sz="1200" b="1" dirty="0"/>
              <a:t>QUÉ COMUNICA</a:t>
            </a:r>
          </a:p>
          <a:p>
            <a:r>
              <a:rPr lang="es-ES" sz="1200" b="0" dirty="0"/>
              <a:t>La lista de proyectos de la organización. La columna clave no es el estado de conexión sino CAPABILITIES: qué motores están configurados para cada proyecto.</a:t>
            </a:r>
          </a:p>
          <a:p>
            <a:endParaRPr lang="es-ES" sz="1200"/>
          </a:p>
          <a:p>
            <a:r>
              <a:rPr lang="es-ES" sz="1200" b="1" dirty="0"/>
              <a:t>POR QUÉ ESTÁ AQUÍ</a:t>
            </a:r>
          </a:p>
          <a:p>
            <a:r>
              <a:rPr lang="es-ES" sz="1200" b="0" dirty="0"/>
              <a:t>Un proyecto es una sola entidad compartida, no un proyecto de StoreBrid más un proyecto de ReveNew. Esta columna es lo que hace visible esa decisión: no dice «conectado/desconectado», dice qué trabajo existe ya.</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Crear proyecto — contexto compartido (1 de 2)</a:t>
            </a:r>
          </a:p>
          <a:p>
            <a:endParaRPr lang="es-ES" sz="1200"/>
          </a:p>
          <a:p>
            <a:r>
              <a:rPr lang="es-ES" sz="1200" b="1" dirty="0"/>
              <a:t>QUÉ COMUNICA</a:t>
            </a:r>
          </a:p>
          <a:p>
            <a:r>
              <a:rPr lang="es-ES" sz="1200" b="0" dirty="0"/>
              <a:t>El formulario de alta: nombre, tecnología, potencia, capacidad, moneda, fecha de operación comercial y localización sobre mapa.</a:t>
            </a:r>
          </a:p>
          <a:p>
            <a:endParaRPr lang="es-ES" sz="1200"/>
          </a:p>
          <a:p>
            <a:r>
              <a:rPr lang="es-ES" sz="1200" b="1" dirty="0"/>
              <a:t>POR QUÉ ESTÁ AQUÍ</a:t>
            </a:r>
          </a:p>
          <a:p>
            <a:r>
              <a:rPr lang="es-ES" sz="1200" b="0" dirty="0"/>
              <a:t>Es el único lugar donde la Suite crea algo por sí misma, y crea justamente lo que ambos motores necesitan leer. Definir el contexto una sola vez es lo que evita que StoreBrid y ReveNew mantengan versiones divergentes del mismo proyecto.</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Crear proyecto — capacidades disponibles (2 de 2)</a:t>
            </a:r>
          </a:p>
          <a:p>
            <a:endParaRPr lang="es-ES" sz="1200"/>
          </a:p>
          <a:p>
            <a:r>
              <a:rPr lang="es-ES" sz="1200" b="1" dirty="0"/>
              <a:t>QUÉ COMUNICA</a:t>
            </a:r>
          </a:p>
          <a:p>
            <a:r>
              <a:rPr lang="es-ES" sz="1200" b="0" dirty="0"/>
              <a:t>El bloque final declara qué capacidades quedarán disponibles en el proyecto según las licencias de la organización.</a:t>
            </a:r>
          </a:p>
          <a:p>
            <a:endParaRPr lang="es-ES" sz="1200"/>
          </a:p>
          <a:p>
            <a:r>
              <a:rPr lang="es-ES" sz="1200" b="1" dirty="0"/>
              <a:t>POR QUÉ ESTÁ AQUÍ</a:t>
            </a:r>
          </a:p>
          <a:p>
            <a:r>
              <a:rPr lang="es-ES" sz="1200" b="0" dirty="0"/>
              <a:t>Hace explícito desde el alta que un proyecto puede nacer solo con la parte técnica, solo con la financiera o con ambas. El análisis combinado exige las dos, y conviene que eso se sepa antes de empezar, no al chocar con una pantalla vacía.</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Analytics — nivel cartera (1 de 2)</a:t>
            </a:r>
          </a:p>
          <a:p>
            <a:endParaRPr lang="es-ES" sz="1200"/>
          </a:p>
          <a:p>
            <a:r>
              <a:rPr lang="es-ES" sz="1200" b="1" dirty="0"/>
              <a:t>QUÉ COMUNICA</a:t>
            </a:r>
          </a:p>
          <a:p>
            <a:r>
              <a:rPr lang="es-ES" sz="1200" b="0" dirty="0"/>
              <a:t>Análisis entre proyectos: la dispersión de utilización frente a retorno y las lecturas sobre dónde ambos motores discrepan.</a:t>
            </a:r>
          </a:p>
          <a:p>
            <a:endParaRPr lang="es-ES" sz="1200"/>
          </a:p>
          <a:p>
            <a:r>
              <a:rPr lang="es-ES" sz="1200" b="1" dirty="0"/>
              <a:t>POR QUÉ ESTÁ AQUÍ</a:t>
            </a:r>
          </a:p>
          <a:p>
            <a:r>
              <a:rPr lang="es-ES" sz="1200" b="0" dirty="0"/>
              <a:t>Es la única vista de la propuesta que ningún motor puede dibujar por su cuenta, porque cruza un eje técnico con uno financiero sobre muchos proyectos. Justifica por sí sola la existencia de una capa por encima de los dos productos.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Analytics — evolución temporal (2 de 2)</a:t>
            </a:r>
          </a:p>
          <a:p>
            <a:endParaRPr lang="es-ES" sz="1200"/>
          </a:p>
          <a:p>
            <a:r>
              <a:rPr lang="es-ES" sz="1200" b="1" dirty="0"/>
              <a:t>QUÉ COMUNICA</a:t>
            </a:r>
          </a:p>
          <a:p>
            <a:r>
              <a:rPr lang="es-ES" sz="1200" b="0" dirty="0"/>
              <a:t>La lectura mensual de cuándo mover energía realmente genera ingreso, y la comparación entre proyectos.</a:t>
            </a:r>
          </a:p>
          <a:p>
            <a:endParaRPr lang="es-ES" sz="1200"/>
          </a:p>
          <a:p>
            <a:r>
              <a:rPr lang="es-ES" sz="1200" b="1" dirty="0"/>
              <a:t>POR QUÉ ESTÁ AQUÍ</a:t>
            </a:r>
          </a:p>
          <a:p>
            <a:r>
              <a:rPr lang="es-ES" sz="1200" b="0" dirty="0"/>
              <a:t>Traduce el dato agregado a una pregunta operativa. Cierra Analytics con algo accionable en lugar de con una tabla más.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Files — biblioteca compartida</a:t>
            </a:r>
          </a:p>
          <a:p>
            <a:endParaRPr lang="es-ES" sz="1200"/>
          </a:p>
          <a:p>
            <a:r>
              <a:rPr lang="es-ES" sz="1200" b="1" dirty="0"/>
              <a:t>QUÉ COMUNICA</a:t>
            </a:r>
          </a:p>
          <a:p>
            <a:r>
              <a:rPr lang="es-ES" sz="1200" b="0" dirty="0"/>
              <a:t>El repositorio del que leen ambos productos. Cada fila declara qué la está usando — «Related to Base market · High spread», «Related to Base case 2027 and its 2 variants» — además de qué producto la lee.</a:t>
            </a:r>
          </a:p>
          <a:p>
            <a:endParaRPr lang="es-ES" sz="1200"/>
          </a:p>
          <a:p>
            <a:r>
              <a:rPr lang="es-ES" sz="1200" b="1" dirty="0"/>
              <a:t>POR QUÉ ESTÁ AQUÍ</a:t>
            </a:r>
          </a:p>
          <a:p>
            <a:r>
              <a:rPr lang="es-ES" sz="1200" b="0" dirty="0"/>
              <a:t>Un repositorio compartido solo aporta valor si se sabe qué depende de cada archivo. Ese campo es lo que permite reemplazar un fichero de precios sabiendo exactamente qué análisis quedarán afectados.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Activity — trazabilidad (1 de 2)</a:t>
            </a:r>
          </a:p>
          <a:p>
            <a:endParaRPr lang="es-ES" sz="1200"/>
          </a:p>
          <a:p>
            <a:r>
              <a:rPr lang="es-ES" sz="1200" b="1" dirty="0"/>
              <a:t>QUÉ COMUNICA</a:t>
            </a:r>
          </a:p>
          <a:p>
            <a:r>
              <a:rPr lang="es-ES" sz="1200" b="0" dirty="0"/>
              <a:t>El histórico del proyecto filtrable por origen: todos, StoreBrid, ReveNew y Suite, con recuento en cada filtro.</a:t>
            </a:r>
          </a:p>
          <a:p>
            <a:endParaRPr lang="es-ES" sz="1200"/>
          </a:p>
          <a:p>
            <a:r>
              <a:rPr lang="es-ES" sz="1200" b="1" dirty="0"/>
              <a:t>POR QUÉ ESTÁ AQUÍ</a:t>
            </a:r>
          </a:p>
          <a:p>
            <a:r>
              <a:rPr lang="es-ES" sz="1200" b="0" dirty="0"/>
              <a:t>Con dos motores calculando de forma independiente, la pregunta «¿por qué ha cambiado este número?» es constante. El filtro por origen la responde en un paso, y el lenguaje de cada entrada nombra lo que realmente ocurrió, no una acción genérica.</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Activity — histórico anterior (2 de 2)</a:t>
            </a:r>
          </a:p>
          <a:p>
            <a:endParaRPr lang="es-ES" sz="1200"/>
          </a:p>
          <a:p>
            <a:r>
              <a:rPr lang="es-ES" sz="1200" b="1" dirty="0"/>
              <a:t>QUÉ COMUNICA</a:t>
            </a:r>
          </a:p>
          <a:p>
            <a:r>
              <a:rPr lang="es-ES" sz="1200" b="0" dirty="0"/>
              <a:t>Continuación del timeline hacia días anteriores.</a:t>
            </a:r>
          </a:p>
          <a:p>
            <a:endParaRPr lang="es-ES" sz="1200"/>
          </a:p>
          <a:p>
            <a:r>
              <a:rPr lang="es-ES" sz="1200" b="1" dirty="0"/>
              <a:t>POR QUÉ ESTÁ AQUÍ</a:t>
            </a:r>
          </a:p>
          <a:p>
            <a:r>
              <a:rPr lang="es-ES" sz="1200" b="0" dirty="0"/>
              <a:t>Muestra que la traza no se limita a las últimas horas: es el registro auditable del proyecto.</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Overview — ¿qué estoy analizando ahora? (1 de 2)</a:t>
            </a:r>
          </a:p>
          <a:p>
            <a:endParaRPr lang="es-ES" sz="1200"/>
          </a:p>
          <a:p>
            <a:r>
              <a:rPr lang="es-ES" sz="1200" b="1" dirty="0"/>
              <a:t>QUÉ COMUNICA</a:t>
            </a:r>
          </a:p>
          <a:p>
            <a:r>
              <a:rPr lang="es-ES" sz="1200" b="0" dirty="0"/>
              <a:t>La pantalla central de la propuesta. Arriba, el analysis case actual con sus dos mitades: la simulación técnica y el caso financiero, cada una con su origen y su frescura, y el resultado que producen juntas. Debajo, «What the asset does» (StoreBrid) y «What it earns» (ReveNew) en paralelo.</a:t>
            </a:r>
          </a:p>
          <a:p>
            <a:endParaRPr lang="es-ES" sz="1200"/>
          </a:p>
          <a:p>
            <a:r>
              <a:rPr lang="es-ES" sz="1200" b="1" dirty="0"/>
              <a:t>POR QUÉ ESTÁ AQUÍ</a:t>
            </a:r>
          </a:p>
          <a:p>
            <a:r>
              <a:rPr lang="es-ES" sz="1200" b="0" dirty="0"/>
              <a:t>Responde la primera pregunta de cualquier usuario que abre un proyecto: qué pareja concreta está leyendo. Nótese el tratamiento de CAPEX: no se atribuye a un solo producto, sino que muestra su linaje — se calcula en StoreBrid y lo consume el modelo financiero de ReveNew. La interfaz deja de fingir que cada dato tiene un único dueño.</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Overview — qué produce la combinación (2 de 3)</a:t>
            </a:r>
          </a:p>
          <a:p>
            <a:endParaRPr lang="es-ES" sz="1200"/>
          </a:p>
          <a:p>
            <a:r>
              <a:rPr lang="es-ES" sz="1200" b="1" dirty="0"/>
              <a:t>QUÉ COMUNICA</a:t>
            </a:r>
          </a:p>
          <a:p>
            <a:r>
              <a:rPr lang="es-ES" sz="1200" b="0" dirty="0"/>
              <a:t>El gráfico de inversión frente a retorno de los tres analysis cases guardados: la barra azul es el CAPEX que StoreBrid calcula, la magenta el NPV que ReveNew produce, sobre un mismo eje en euros, y a la derecha los euros de NPV por euro invertido.</a:t>
            </a:r>
          </a:p>
          <a:p>
            <a:endParaRPr lang="es-ES" sz="1200"/>
          </a:p>
          <a:p>
            <a:r>
              <a:rPr lang="es-ES" sz="1200" b="1" dirty="0"/>
              <a:t>POR QUÉ ESTÁ AQUÍ</a:t>
            </a:r>
          </a:p>
          <a:p>
            <a:r>
              <a:rPr lang="es-ES" sz="1200" b="0" dirty="0"/>
              <a:t>Es la lectura que resume el proyecto en un vistazo: no solo cuál rinde más, sino cuánto capital exige cada punto de rendimiento. El título es deliberado — «Storage investment against return», no «¿mejora el retorno con más almacenamiento?» — porque los tres casos no mantienen constante el lado financiero y una pregunta causal afirmaría más de lo que el dato sostiene.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Overview — lo que hay disponible para combinar (3 de 3)</a:t>
            </a:r>
          </a:p>
          <a:p>
            <a:endParaRPr lang="es-ES" sz="1200"/>
          </a:p>
          <a:p>
            <a:r>
              <a:rPr lang="es-ES" sz="1200" b="1" dirty="0"/>
              <a:t>QUÉ COMUNICA</a:t>
            </a:r>
          </a:p>
          <a:p>
            <a:r>
              <a:rPr lang="es-ES" sz="1200" b="0" dirty="0"/>
              <a:t>El bloque de exploración: las simulaciones técnicas y los casos financieros que existen en el proyecto, y debajo la tabla de analysis cases guardados con su CAPEX, NPV e IRR.</a:t>
            </a:r>
          </a:p>
          <a:p>
            <a:endParaRPr lang="es-ES" sz="1200"/>
          </a:p>
          <a:p>
            <a:r>
              <a:rPr lang="es-ES" sz="1200" b="1" dirty="0"/>
              <a:t>POR QUÉ ESTÁ AQUÍ</a:t>
            </a:r>
          </a:p>
          <a:p>
            <a:r>
              <a:rPr lang="es-ES" sz="1200" b="0" dirty="0"/>
              <a:t>Es lo que convierte Overview en un punto de partida y no en un informe. Desde aquí se ve la materia prima disponible y se cambia el análisis actual sin salir de la página. El pie fija de nuevo el límite: cambiar una simulación o un modelo financiero ocurre en StoreBrid o en ReveNew; la Suite lee el resultado.</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Cambiar simulación técnica</a:t>
            </a:r>
          </a:p>
          <a:p>
            <a:endParaRPr lang="es-ES" sz="1200"/>
          </a:p>
          <a:p>
            <a:r>
              <a:rPr lang="es-ES" sz="1200" b="1" dirty="0"/>
              <a:t>QUÉ COMUNICA</a:t>
            </a:r>
          </a:p>
          <a:p>
            <a:r>
              <a:rPr lang="es-ES" sz="1200" b="0" dirty="0"/>
              <a:t>Un panel enfocado con las tres simulaciones disponibles, cada una con las cifras que las separan: energía descargada, ciclos y CAPEX. El pie recuerda que crear o editar una simulación es trabajo de StoreBrid.</a:t>
            </a:r>
          </a:p>
          <a:p>
            <a:endParaRPr lang="es-ES" sz="1200"/>
          </a:p>
          <a:p>
            <a:r>
              <a:rPr lang="es-ES" sz="1200" b="1" dirty="0"/>
              <a:t>POR QUÉ ESTÁ AQUÍ</a:t>
            </a:r>
          </a:p>
          <a:p>
            <a:r>
              <a:rPr lang="es-ES" sz="1200" b="0" dirty="0"/>
              <a:t>Cambiar el lado técnico de la pareja es la acción más frecuente del recorrido, y no merece una página propia. Este panel absorbe cuatro pantallas de la propuesta anterior — el listado de simulaciones, su vista general, sus pestañas y la página de resultados técnicos — sin perder capacidad de elección.</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Cambiar caso financiero</a:t>
            </a:r>
          </a:p>
          <a:p>
            <a:endParaRPr lang="es-ES" sz="1200"/>
          </a:p>
          <a:p>
            <a:r>
              <a:rPr lang="es-ES" sz="1200" b="1" dirty="0"/>
              <a:t>QUÉ COMUNICA</a:t>
            </a:r>
          </a:p>
          <a:p>
            <a:r>
              <a:rPr lang="es-ES" sz="1200" b="0" dirty="0"/>
              <a:t>El panel espejo del anterior: tres casos financieros de ReveNew con NPV, IRR y payback.</a:t>
            </a:r>
          </a:p>
          <a:p>
            <a:endParaRPr lang="es-ES" sz="1200"/>
          </a:p>
          <a:p>
            <a:r>
              <a:rPr lang="es-ES" sz="1200" b="1" dirty="0"/>
              <a:t>POR QUÉ ESTÁ AQUÍ</a:t>
            </a:r>
          </a:p>
          <a:p>
            <a:r>
              <a:rPr lang="es-ES" sz="1200" b="0" dirty="0"/>
              <a:t>Simetría deliberada: las dos mitades del analysis case se cambian con el mismo gesto. Es también donde se resuelve el malentendido de terminología — lo que antes se llamaba «escenarios» son en realidad casos financieros; los escenarios de Forecast, Energy, Revenue, CapEx y OpEx son la maquinaria interna de ReveNew que los construye, y la Suite muestra el caso y su resultado, no esa maquinaria.</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Detalle técnico</a:t>
            </a:r>
          </a:p>
          <a:p>
            <a:endParaRPr lang="es-ES" sz="1200"/>
          </a:p>
          <a:p>
            <a:r>
              <a:rPr lang="es-ES" sz="1200" b="1" dirty="0"/>
              <a:t>QUÉ COMUNICA</a:t>
            </a:r>
          </a:p>
          <a:p>
            <a:r>
              <a:rPr lang="es-ES" sz="1200" b="0" dirty="0"/>
              <a:t>Divulgación progresiva en lugar de una página de resultados técnicos: configuración, operación, degradación y la curva de potencia y estado de carga, en modo solo lectura.</a:t>
            </a:r>
          </a:p>
          <a:p>
            <a:endParaRPr lang="es-ES" sz="1200"/>
          </a:p>
          <a:p>
            <a:r>
              <a:rPr lang="es-ES" sz="1200" b="1" dirty="0"/>
              <a:t>POR QUÉ ESTÁ AQUÍ</a:t>
            </a:r>
          </a:p>
          <a:p>
            <a:r>
              <a:rPr lang="es-ES" sz="1200" b="0" dirty="0"/>
              <a:t>Codifica el límite del producto: la Suite muestra lo suficiente para entender por qué querrías abrir StoreBrid, y no intenta ser StoreBrid. La única acción del pie es precisamente «Open in StoreBrid».</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Desglose financiero</a:t>
            </a:r>
          </a:p>
          <a:p>
            <a:endParaRPr lang="es-ES" sz="1200"/>
          </a:p>
          <a:p>
            <a:r>
              <a:rPr lang="es-ES" sz="1200" b="1" dirty="0"/>
              <a:t>QUÉ COMUNICA</a:t>
            </a:r>
          </a:p>
          <a:p>
            <a:r>
              <a:rPr lang="es-ES" sz="1200" b="0" dirty="0"/>
              <a:t>El equivalente financiero: Forecast, Energy, Revenue, Costs y Financial Model en un único panel de solo lectura.</a:t>
            </a:r>
          </a:p>
          <a:p>
            <a:endParaRPr lang="es-ES" sz="1200"/>
          </a:p>
          <a:p>
            <a:r>
              <a:rPr lang="es-ES" sz="1200" b="1" dirty="0"/>
              <a:t>POR QUÉ ESTÁ AQUÍ</a:t>
            </a:r>
          </a:p>
          <a:p>
            <a:r>
              <a:rPr lang="es-ES" sz="1200" b="0" dirty="0"/>
              <a:t>Es el único punto donde la estructura interna de ReveNew puede aparecer, y aparece como detalle que explica una cifra, nunca como navegación. Nada es editable; la única salida es «Open in ReveNew».</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Fuera de sincronía (1 de 2)</a:t>
            </a:r>
          </a:p>
          <a:p>
            <a:endParaRPr lang="es-ES" sz="1200"/>
          </a:p>
          <a:p>
            <a:r>
              <a:rPr lang="es-ES" sz="1200" b="1" dirty="0"/>
              <a:t>QUÉ COMUNICA</a:t>
            </a:r>
          </a:p>
          <a:p>
            <a:r>
              <a:rPr lang="es-ES" sz="1200" b="0" dirty="0"/>
              <a:t>El estado que dos motores independientes hacen inevitable: la simulación se recalculó hace 12 minutos, el caso financiero hace 4 horas, de modo que las cifras mostradas corresponden al cálculo anterior. El aviso nombra qué cambió, qué lado va por detrás y dónde se corrige.</a:t>
            </a:r>
          </a:p>
          <a:p>
            <a:endParaRPr lang="es-ES" sz="1200"/>
          </a:p>
          <a:p>
            <a:r>
              <a:rPr lang="es-ES" sz="1200" b="1" dirty="0"/>
              <a:t>POR QUÉ ESTÁ AQUÍ</a:t>
            </a:r>
          </a:p>
          <a:p>
            <a:r>
              <a:rPr lang="es-ES" sz="1200" b="0" dirty="0"/>
              <a:t>Es la pieza de confianza de toda la propuesta. La alternativa — ocultar los números hasta que ambos lados coincidan — sería peor: el usuario perdería el contexto sin ganar precisión. Aquí la página sigue funcionando y el dato queda etiquetado.</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Fuera de sincronía — el resto de la página sigue funcionando (2 de 3)</a:t>
            </a:r>
          </a:p>
          <a:p>
            <a:endParaRPr lang="es-ES" sz="1200"/>
          </a:p>
          <a:p>
            <a:r>
              <a:rPr lang="es-ES" sz="1200" b="1" dirty="0"/>
              <a:t>QUÉ COMUNICA</a:t>
            </a:r>
          </a:p>
          <a:p>
            <a:r>
              <a:rPr lang="es-ES" sz="1200" b="0" dirty="0"/>
              <a:t>El gráfico de inversión frente a retorno se sigue dibujando con normalidad, con el aviso de frescura vigente sobre las cifras afectadas.</a:t>
            </a:r>
          </a:p>
          <a:p>
            <a:endParaRPr lang="es-ES" sz="1200"/>
          </a:p>
          <a:p>
            <a:r>
              <a:rPr lang="es-ES" sz="1200" b="1" dirty="0"/>
              <a:t>POR QUÉ ESTÁ AQUÍ</a:t>
            </a:r>
          </a:p>
          <a:p>
            <a:r>
              <a:rPr lang="es-ES" sz="1200" b="0" dirty="0"/>
              <a:t>Refuerza la regla: un resultado desactualizado se marca, no se esconde. Ocultar la página hasta que ambos motores coincidan haría perder el contexto sin ganar precisión.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Fuera de sincronía — qué hay disponible (3 de 3)</a:t>
            </a:r>
          </a:p>
          <a:p>
            <a:endParaRPr lang="es-ES" sz="1200"/>
          </a:p>
          <a:p>
            <a:r>
              <a:rPr lang="es-ES" sz="1200" b="1" dirty="0"/>
              <a:t>QUÉ COMUNICA</a:t>
            </a:r>
          </a:p>
          <a:p>
            <a:r>
              <a:rPr lang="es-ES" sz="1200" b="0" dirty="0"/>
              <a:t>El bloque de exploración y los analysis cases guardados, con el estado de frescura de cada lado a la vista.</a:t>
            </a:r>
          </a:p>
          <a:p>
            <a:endParaRPr lang="es-ES" sz="1200"/>
          </a:p>
          <a:p>
            <a:r>
              <a:rPr lang="es-ES" sz="1200" b="1" dirty="0"/>
              <a:t>POR QUÉ ESTÁ AQUÍ</a:t>
            </a:r>
          </a:p>
          <a:p>
            <a:r>
              <a:rPr lang="es-ES" sz="1200" b="0" dirty="0"/>
              <a:t>Desde aquí se ve inmediatamente qué lado va por detrás y se puede recalcular en el motor que corresponde. Como se ve en Compare, un resultado obsoleto queda además excluido de cualquier conclusión de tipo «el mejor».</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Case matrix — explorar las combinaciones (1 de 3)</a:t>
            </a:r>
          </a:p>
          <a:p>
            <a:endParaRPr lang="es-ES" sz="1200"/>
          </a:p>
          <a:p>
            <a:r>
              <a:rPr lang="es-ES" sz="1200" b="1" dirty="0"/>
              <a:t>QUÉ COMUNICA</a:t>
            </a:r>
          </a:p>
          <a:p>
            <a:r>
              <a:rPr lang="es-ES" sz="1200" b="0" dirty="0"/>
              <a:t>La rejilla de 3 simulaciones × 3 casos financieros: 9 combinaciones posibles, de las cuales solo 3 están guardadas como analysis cases. Cada celda declara cuál es — el nombre del caso, o «Not saved».</a:t>
            </a:r>
          </a:p>
          <a:p>
            <a:endParaRPr lang="es-ES" sz="1200"/>
          </a:p>
          <a:p>
            <a:r>
              <a:rPr lang="es-ES" sz="1200" b="1" dirty="0"/>
              <a:t>POR QUÉ ESTÁ AQUÍ</a:t>
            </a:r>
          </a:p>
          <a:p>
            <a:r>
              <a:rPr lang="es-ES" sz="1200" b="0" dirty="0"/>
              <a:t>Es la distinción conceptual más importante del producto: una combinación se convierte en analysis case únicamente cuando alguien la nombra. Sin esa distinción, la Suite acabaría gestionando 9 objetos que nadie ha decidido crear. La celda desactualizada aparece marcada y atenuada, no como un resultado válido.</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Case matrix — la celda seleccionada (2 de 3)</a:t>
            </a:r>
          </a:p>
          <a:p>
            <a:endParaRPr lang="es-ES" sz="1200"/>
          </a:p>
          <a:p>
            <a:r>
              <a:rPr lang="es-ES" sz="1200" b="1" dirty="0"/>
              <a:t>QUÉ COMUNICA</a:t>
            </a:r>
          </a:p>
          <a:p>
            <a:r>
              <a:rPr lang="es-ES" sz="1200" b="0" dirty="0"/>
              <a:t>Al seleccionar una celda se abre debajo su detalle: las métricas de esa combinación con el origen de cada una, y las acciones disponibles — añadir a la comparación, explicar la diferencia y guardarla como analysis case.</a:t>
            </a:r>
          </a:p>
          <a:p>
            <a:endParaRPr lang="es-ES" sz="1200"/>
          </a:p>
          <a:p>
            <a:r>
              <a:rPr lang="es-ES" sz="1200" b="1" dirty="0"/>
              <a:t>POR QUÉ ESTÁ AQUÍ</a:t>
            </a:r>
          </a:p>
          <a:p>
            <a:r>
              <a:rPr lang="es-ES" sz="1200" b="0" dirty="0"/>
              <a:t>Aquí se cierra el bucle hacia Overview: si la combinación ya es un analysis case, la acción es «Use as current analysis». Explorar y decidir ocurren en el mismo gesto, sin cambiar de página.</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Case matrix — el trade-off detrás de la métrica (3 de 3)</a:t>
            </a:r>
          </a:p>
          <a:p>
            <a:endParaRPr lang="es-ES" sz="1200"/>
          </a:p>
          <a:p>
            <a:r>
              <a:rPr lang="es-ES" sz="1200" b="1" dirty="0"/>
              <a:t>QUÉ COMUNICA</a:t>
            </a:r>
          </a:p>
          <a:p>
            <a:r>
              <a:rPr lang="es-ES" sz="1200" b="0" dirty="0"/>
              <a:t>El gráfico de rango: para cada simulación técnica, el recorrido que la métrica cubre según el caso financiero con el que se combine.</a:t>
            </a:r>
          </a:p>
          <a:p>
            <a:endParaRPr lang="es-ES" sz="1200"/>
          </a:p>
          <a:p>
            <a:r>
              <a:rPr lang="es-ES" sz="1200" b="1" dirty="0"/>
              <a:t>POR QUÉ ESTÁ AQUÍ</a:t>
            </a:r>
          </a:p>
          <a:p>
            <a:r>
              <a:rPr lang="es-ES" sz="1200" b="0" dirty="0"/>
              <a:t>Traduce la rejilla a una lectura de sensibilidad: cuánto del resultado lo determina la decisión técnica y cuánto el mercado. Es la pregunta que ningún motor puede responder solo.</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Crear analysis case</a:t>
            </a:r>
          </a:p>
          <a:p>
            <a:endParaRPr lang="es-ES" sz="1200"/>
          </a:p>
          <a:p>
            <a:r>
              <a:rPr lang="es-ES" sz="1200" b="1" dirty="0"/>
              <a:t>QUÉ COMUNICA</a:t>
            </a:r>
          </a:p>
          <a:p>
            <a:r>
              <a:rPr lang="es-ES" sz="1200" b="0" dirty="0"/>
              <a:t>Un nombre y dos selectores. El resumen — capacidad, CAPEX, NPV, IRR — se lee en vivo de ambos productos, con el origen indicado bajo cada cifra.</a:t>
            </a:r>
          </a:p>
          <a:p>
            <a:endParaRPr lang="es-ES" sz="1200"/>
          </a:p>
          <a:p>
            <a:r>
              <a:rPr lang="es-ES" sz="1200" b="1" dirty="0"/>
              <a:t>POR QUÉ ESTÁ AQUÍ</a:t>
            </a:r>
          </a:p>
          <a:p>
            <a:r>
              <a:rPr lang="es-ES" sz="1200" b="0" dirty="0"/>
              <a:t>El analysis case es el único objeto que la Suite posee, y es deliberadamente delgado: sin asistente, sin módulo de gestión, sin sección de navegación propia. El pie lo dice literalmente: no se crea nada en StoreBrid ni en ReveNew, es un emparejamiento con nombre de lo que ya existe.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Compare — donde se decide (1 de 4)</a:t>
            </a:r>
          </a:p>
          <a:p>
            <a:endParaRPr lang="es-ES" sz="1200"/>
          </a:p>
          <a:p>
            <a:r>
              <a:rPr lang="es-ES" sz="1200" b="1" dirty="0"/>
              <a:t>QUÉ COMUNICA</a:t>
            </a:r>
          </a:p>
          <a:p>
            <a:r>
              <a:rPr lang="es-ES" sz="1200" b="0" dirty="0"/>
              <a:t>La cabecera de comparación con el resumen de decisión: mejor NPV, mejor IRR, menor CAPEX y payback más corto entre los casos comparados.</a:t>
            </a:r>
          </a:p>
          <a:p>
            <a:endParaRPr lang="es-ES" sz="1200"/>
          </a:p>
          <a:p>
            <a:r>
              <a:rPr lang="es-ES" sz="1200" b="1" dirty="0"/>
              <a:t>POR QUÉ ESTÁ AQUÍ</a:t>
            </a:r>
          </a:p>
          <a:p>
            <a:r>
              <a:rPr lang="es-ES" sz="1200" b="0" dirty="0"/>
              <a:t>Es la respuesta directa a la pregunta del usuario. Y es donde la regla de frescura pesa más: el caso «Stress test» tiene un resultado financiero anterior al cambio técnico, así que se marca como desactualizado y queda excluido de estas conclusiones. Un resultado obsoleto nunca se etiqueta como el mejor en silencio.</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Compare — diferencias respecto a la referencia (2 de 4)</a:t>
            </a:r>
          </a:p>
          <a:p>
            <a:endParaRPr lang="es-ES" sz="1200"/>
          </a:p>
          <a:p>
            <a:r>
              <a:rPr lang="es-ES" sz="1200" b="1" dirty="0"/>
              <a:t>QUÉ COMUNICA</a:t>
            </a:r>
          </a:p>
          <a:p>
            <a:r>
              <a:rPr lang="es-ES" sz="1200" b="0" dirty="0"/>
              <a:t>Las barras de delta frente al caso base, orientadas por significado y no por signo: lo mejor va a la derecha, lo peor a la izquierda, independientemente de si la métrica mejora subiendo o bajando.</a:t>
            </a:r>
          </a:p>
          <a:p>
            <a:endParaRPr lang="es-ES" sz="1200"/>
          </a:p>
          <a:p>
            <a:r>
              <a:rPr lang="es-ES" sz="1200" b="1" dirty="0"/>
              <a:t>POR QUÉ ESTÁ AQUÍ</a:t>
            </a:r>
          </a:p>
          <a:p>
            <a:r>
              <a:rPr lang="es-ES" sz="1200" b="0" dirty="0"/>
              <a:t>Un CAPEX menor y un IRR mayor son ambos buenos, pero con signos opuestos. Orientar por signo obligaría a traducir mentalmente cada fila. Orientar por significado hace que la lectura sea inmediata; la etiqueta conserva siempre el valor real con su signo.</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Compare — descomposición técnica y financiera (3 de 4)</a:t>
            </a:r>
          </a:p>
          <a:p>
            <a:endParaRPr lang="es-ES" sz="1200"/>
          </a:p>
          <a:p>
            <a:r>
              <a:rPr lang="es-ES" sz="1200" b="1" dirty="0"/>
              <a:t>QUÉ COMUNICA</a:t>
            </a:r>
          </a:p>
          <a:p>
            <a:r>
              <a:rPr lang="es-ES" sz="1200" b="0" dirty="0"/>
              <a:t>Para cada alternativa, qué cambió del lado técnico, qué impacto financiero tuvo y qué compra ese cambio de diseño.</a:t>
            </a:r>
          </a:p>
          <a:p>
            <a:endParaRPr lang="es-ES" sz="1200"/>
          </a:p>
          <a:p>
            <a:r>
              <a:rPr lang="es-ES" sz="1200" b="1" dirty="0"/>
              <a:t>POR QUÉ ESTÁ AQUÍ</a:t>
            </a:r>
          </a:p>
          <a:p>
            <a:r>
              <a:rPr lang="es-ES" sz="1200" b="0" dirty="0"/>
              <a:t>Es la traducción que justifica el producto: convierte «+1,3 puntos de IRR» en «4 horas de duración en lugar de 2, a cambio de 8,6 M€ más de CAPEX». Ninguno de los dos motores puede escribir esa frase por su cuenta.</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Compare — tabla completa de métricas (4 de 4)</a:t>
            </a:r>
          </a:p>
          <a:p>
            <a:endParaRPr lang="es-ES" sz="1200"/>
          </a:p>
          <a:p>
            <a:r>
              <a:rPr lang="es-ES" sz="1200" b="1" dirty="0"/>
              <a:t>QUÉ COMUNICA</a:t>
            </a:r>
          </a:p>
          <a:p>
            <a:r>
              <a:rPr lang="es-ES" sz="1200" b="0" dirty="0"/>
              <a:t>La tabla íntegra, agrupada por origen: Technical (StoreBrid), Financial (ReveNew) y Combined (Suite), tras «Show all metrics».</a:t>
            </a:r>
          </a:p>
          <a:p>
            <a:endParaRPr lang="es-ES" sz="1200"/>
          </a:p>
          <a:p>
            <a:r>
              <a:rPr lang="es-ES" sz="1200" b="1" dirty="0"/>
              <a:t>POR QUÉ ESTÁ AQUÍ</a:t>
            </a:r>
          </a:p>
          <a:p>
            <a:r>
              <a:rPr lang="es-ES" sz="1200" b="0" dirty="0"/>
              <a:t>No se eliminó densidad analítica, se jerarquizó: primero la conclusión, luego las diferencias, luego la descomposición y, al final y bajo demanda, el detalle completo. La agrupación por origen mantiene visible de dónde sale cada número.</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Explicar una diferencia (1 de 5)</a:t>
            </a:r>
          </a:p>
          <a:p>
            <a:endParaRPr lang="es-ES" sz="1200"/>
          </a:p>
          <a:p>
            <a:r>
              <a:rPr lang="es-ES" sz="1200" b="1" dirty="0"/>
              <a:t>QUÉ COMUNICA</a:t>
            </a:r>
          </a:p>
          <a:p>
            <a:r>
              <a:rPr lang="es-ES" sz="1200" b="0" dirty="0"/>
              <a:t>Un estado de Compare al que se llega desde una celda seleccionada de la matriz. Cabecera con el resumen de decisión y los cambios clave frente a la referencia.</a:t>
            </a:r>
          </a:p>
          <a:p>
            <a:endParaRPr lang="es-ES" sz="1200"/>
          </a:p>
          <a:p>
            <a:r>
              <a:rPr lang="es-ES" sz="1200" b="1" dirty="0"/>
              <a:t>POR QUÉ ESTÁ AQUÍ</a:t>
            </a:r>
          </a:p>
          <a:p>
            <a:r>
              <a:rPr lang="es-ES" sz="1200" b="0" dirty="0"/>
              <a:t>Aparece cuando entre la referencia y el caso elegido se han movido las dos dimensiones a la vez — la técnica y la financiera — y por tanto la pregunta «¿a qué se debe la mejora?» no tiene respuesta directa.</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Explicar una diferencia — aislar cada cambio (2 de 5)</a:t>
            </a:r>
          </a:p>
          <a:p>
            <a:endParaRPr lang="es-ES" sz="1200"/>
          </a:p>
          <a:p>
            <a:r>
              <a:rPr lang="es-ES" sz="1200" b="1" dirty="0"/>
              <a:t>QUÉ COMUNICA</a:t>
            </a:r>
          </a:p>
          <a:p>
            <a:r>
              <a:rPr lang="es-ES" sz="1200" b="0" dirty="0"/>
              <a:t>Las columnas de cambio técnico, cambio financiero y resultado, construidas con las dos combinaciones que aíslan una sola variación cada una.</a:t>
            </a:r>
          </a:p>
          <a:p>
            <a:endParaRPr lang="es-ES" sz="1200"/>
          </a:p>
          <a:p>
            <a:r>
              <a:rPr lang="es-ES" sz="1200" b="1" dirty="0"/>
              <a:t>POR QUÉ ESTÁ AQUÍ</a:t>
            </a:r>
          </a:p>
          <a:p>
            <a:r>
              <a:rPr lang="es-ES" sz="1200" b="0" dirty="0"/>
              <a:t>Esas dos combinaciones se añadieron desde la matriz: ya existían, no se calculó nada nuevo para poder explicar. Es coherente con el límite del producto — la Suite no modela, empareja lo que los motores ya han producido.</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Explicar una diferencia — panel de contribución (3 de 5)</a:t>
            </a:r>
          </a:p>
          <a:p>
            <a:endParaRPr lang="es-ES" sz="1200"/>
          </a:p>
          <a:p>
            <a:r>
              <a:rPr lang="es-ES" sz="1200" b="1" dirty="0"/>
              <a:t>QUÉ COMUNICA</a:t>
            </a:r>
          </a:p>
          <a:p>
            <a:r>
              <a:rPr lang="es-ES" sz="1200" b="0" dirty="0"/>
              <a:t>El panel de contribución a lo largo del camino de comparación, mostrando los dos órdenes controlados (técnico primero y financiero primero) y nombrando el residuo entre ambos. Debajo, la economía incremental: qué cuesta y qué devuelve la duración adicional.</a:t>
            </a:r>
          </a:p>
          <a:p>
            <a:endParaRPr lang="es-ES" sz="1200"/>
          </a:p>
          <a:p>
            <a:r>
              <a:rPr lang="es-ES" sz="1200" b="1" dirty="0"/>
              <a:t>POR QUÉ ESTÁ AQUÍ</a:t>
            </a:r>
          </a:p>
          <a:p>
            <a:r>
              <a:rPr lang="es-ES" sz="1200" b="0" dirty="0"/>
              <a:t>Es la pieza intelectualmente más honesta de la propuesta. El reparto entre causas depende de qué dimensión se mueve primero, así que se muestran los dos órdenes y se nombra la diferencia en lugar de elegir uno y presentarlo como la verdad. La Suite informa de la diferencia asociada a cada paso; nunca afirma una causa.</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Explicar una diferencia — técnico frente a financiero (4 de 5)</a:t>
            </a:r>
          </a:p>
          <a:p>
            <a:endParaRPr lang="es-ES" sz="1200"/>
          </a:p>
          <a:p>
            <a:r>
              <a:rPr lang="es-ES" sz="1200" b="1" dirty="0"/>
              <a:t>QUÉ COMUNICA</a:t>
            </a:r>
          </a:p>
          <a:p>
            <a:r>
              <a:rPr lang="es-ES" sz="1200" b="0" dirty="0"/>
              <a:t>La lectura «¿compensa exprimir más el activo?» y el comparador de métricas.</a:t>
            </a:r>
          </a:p>
          <a:p>
            <a:endParaRPr lang="es-ES" sz="1200"/>
          </a:p>
          <a:p>
            <a:r>
              <a:rPr lang="es-ES" sz="1200" b="1" dirty="0"/>
              <a:t>POR QUÉ ESTÁ AQUÍ</a:t>
            </a:r>
          </a:p>
          <a:p>
            <a:r>
              <a:rPr lang="es-ES" sz="1200" b="0" dirty="0"/>
              <a:t>Reformula el análisis como la decisión de negocio que realmente se está tomando, en lugar de dejarlo como un ejercicio de atribución.</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Explicar una diferencia — detalle por origen (5 de 5)</a:t>
            </a:r>
          </a:p>
          <a:p>
            <a:endParaRPr lang="es-ES" sz="1200"/>
          </a:p>
          <a:p>
            <a:r>
              <a:rPr lang="es-ES" sz="1200" b="1" dirty="0"/>
              <a:t>QUÉ COMUNICA</a:t>
            </a:r>
          </a:p>
          <a:p>
            <a:r>
              <a:rPr lang="es-ES" sz="1200" b="0" dirty="0"/>
              <a:t>El desglose completo agrupado en Technical (StoreBrid), Financial (ReveNew) y Combined (Suite).</a:t>
            </a:r>
          </a:p>
          <a:p>
            <a:endParaRPr lang="es-ES" sz="1200"/>
          </a:p>
          <a:p>
            <a:r>
              <a:rPr lang="es-ES" sz="1200" b="1" dirty="0"/>
              <a:t>POR QUÉ ESTÁ AQUÍ</a:t>
            </a:r>
          </a:p>
          <a:p>
            <a:r>
              <a:rPr lang="es-ES" sz="1200" b="0" dirty="0"/>
              <a:t>Cierra la explicación con la trazabilidad íntegra: cualquier cifra citada arriba puede seguirse hasta el motor que la produjo.</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Settings — lo que la Suite sí configura (1 de 2)</a:t>
            </a:r>
          </a:p>
          <a:p>
            <a:endParaRPr lang="es-ES" sz="1200"/>
          </a:p>
          <a:p>
            <a:r>
              <a:rPr lang="es-ES" sz="1200" b="1" dirty="0"/>
              <a:t>QUÉ COMUNICA</a:t>
            </a:r>
          </a:p>
          <a:p>
            <a:r>
              <a:rPr lang="es-ES" sz="1200" b="0" dirty="0"/>
              <a:t>Contexto compartido del proyecto, unidades y moneda de visualización, y cuatro ANALYSIS DEFAULTS: la simulación y el caso financiero con los que abre Overview, la referencia contra la que se miden todas las diferencias y la métrica con la que abre Compare.</a:t>
            </a:r>
          </a:p>
          <a:p>
            <a:endParaRPr lang="es-ES" sz="1200"/>
          </a:p>
          <a:p>
            <a:r>
              <a:rPr lang="es-ES" sz="1200" b="1" dirty="0"/>
              <a:t>POR QUÉ ESTÁ AQUÍ</a:t>
            </a:r>
          </a:p>
          <a:p>
            <a:r>
              <a:rPr lang="es-ES" sz="1200" b="0" dirty="0"/>
              <a:t>Esas cuatro opciones son genuinamente propiedad de la Suite porque son decisiones sobre el emparejamiento, que es lo único que la Suite posee. Todo lo demás sería invadir la configuración de un motor.</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Settings — dónde se configura el resto (2 de 2)</a:t>
            </a:r>
          </a:p>
          <a:p>
            <a:endParaRPr lang="es-ES" sz="1200"/>
          </a:p>
          <a:p>
            <a:r>
              <a:rPr lang="es-ES" sz="1200" b="1" dirty="0"/>
              <a:t>QUÉ COMUNICA</a:t>
            </a:r>
          </a:p>
          <a:p>
            <a:r>
              <a:rPr lang="es-ES" sz="1200" b="0" dirty="0"/>
              <a:t>La última fila de tarjetas enumera explícitamente qué se configura en StoreBrid, qué en ReveNew y qué en la Suite.</a:t>
            </a:r>
          </a:p>
          <a:p>
            <a:endParaRPr lang="es-ES" sz="1200"/>
          </a:p>
          <a:p>
            <a:r>
              <a:rPr lang="es-ES" sz="1200" b="1" dirty="0"/>
              <a:t>POR QUÉ ESTÁ AQUÍ</a:t>
            </a:r>
          </a:p>
          <a:p>
            <a:r>
              <a:rPr lang="es-ES" sz="1200" b="0" dirty="0"/>
              <a:t>Pone el límite del producto a la vista en lugar de dejar que el usuario lo descubra por ausencia. Reduce el soporte y, sobre todo, enseña el modelo mental correcto.</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Detalles del proyecto</a:t>
            </a:r>
          </a:p>
          <a:p>
            <a:endParaRPr lang="es-ES" sz="1200"/>
          </a:p>
          <a:p>
            <a:r>
              <a:rPr lang="es-ES" sz="1200" b="1" dirty="0"/>
              <a:t>QUÉ COMUNICA</a:t>
            </a:r>
          </a:p>
          <a:p>
            <a:r>
              <a:rPr lang="es-ES" sz="1200" b="0" dirty="0"/>
              <a:t>Nombre, tecnología, capacidad, moneda, fecha de operación comercial y localización: el contexto compartido que ambos productos leen, editable directamente desde la Suite.</a:t>
            </a:r>
          </a:p>
          <a:p>
            <a:endParaRPr lang="es-ES" sz="1200"/>
          </a:p>
          <a:p>
            <a:r>
              <a:rPr lang="es-ES" sz="1200" b="1" dirty="0"/>
              <a:t>POR QUÉ ESTÁ AQUÍ</a:t>
            </a:r>
          </a:p>
          <a:p>
            <a:r>
              <a:rPr lang="es-ES" sz="1200" b="0" dirty="0"/>
              <a:t>Es la excepción coherente a la regla de no editar: estos campos no pertenecen a ningún motor, pertenecen al proyecto. Un proyecto, no un proyecto de StoreBrid más otro de ReveNew más otro de la Suite.</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Proyecto recién creado</a:t>
            </a:r>
          </a:p>
          <a:p>
            <a:endParaRPr lang="es-ES" sz="1200"/>
          </a:p>
          <a:p>
            <a:r>
              <a:rPr lang="es-ES" sz="1200" b="1" dirty="0"/>
              <a:t>QUÉ COMUNICA</a:t>
            </a:r>
          </a:p>
          <a:p>
            <a:r>
              <a:rPr lang="es-ES" sz="1200" b="0" dirty="0"/>
              <a:t>Un proyecto sin trabajo todavía: se ofrece empezar por el lado de ingeniería o por el financiero, con el contexto compartido ya relleno.</a:t>
            </a:r>
          </a:p>
          <a:p>
            <a:endParaRPr lang="es-ES" sz="1200"/>
          </a:p>
          <a:p>
            <a:r>
              <a:rPr lang="es-ES" sz="1200" b="1" dirty="0"/>
              <a:t>POR QUÉ ESTÁ AQUÍ</a:t>
            </a:r>
          </a:p>
          <a:p>
            <a:r>
              <a:rPr lang="es-ES" sz="1200" b="0" dirty="0"/>
              <a:t>El mensaje es preciso: al proyecto no le falta nada, simplemente los dominios aún no se han configurado. Es la diferencia entre un estado vacío que parece un error y uno que parece un punto de partida.</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El mismo proyecto con licencia solo de ingeniería</a:t>
            </a:r>
          </a:p>
          <a:p>
            <a:endParaRPr lang="es-ES" sz="1200"/>
          </a:p>
          <a:p>
            <a:r>
              <a:rPr lang="es-ES" sz="1200" b="1" dirty="0"/>
              <a:t>QUÉ COMUNICA</a:t>
            </a:r>
          </a:p>
          <a:p>
            <a:r>
              <a:rPr lang="es-ES" sz="1200" b="0" dirty="0"/>
              <a:t>Idéntico proyecto e idéntica cabecera, pero el usuario solo tiene StoreBrid: aparece el rendimiento técnico y desaparece el grupo ANALYSIS de la navegación.</a:t>
            </a:r>
          </a:p>
          <a:p>
            <a:endParaRPr lang="es-ES" sz="1200"/>
          </a:p>
          <a:p>
            <a:r>
              <a:rPr lang="es-ES" sz="1200" b="1" dirty="0"/>
              <a:t>POR QUÉ ESTÁ AQUÍ</a:t>
            </a:r>
          </a:p>
          <a:p>
            <a:r>
              <a:rPr lang="es-ES" sz="1200" b="0" dirty="0"/>
              <a:t>Combinar exige ambos lados, así que la capacidad de análisis no se muestra deshabilitada, se ausenta. Demuestra además que el modelo de proyecto único aguanta: no hay dos proyectos, hay un proyecto visto con distintos permisos.</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El mismo proyecto con licencia solo financiera</a:t>
            </a:r>
          </a:p>
          <a:p>
            <a:endParaRPr lang="es-ES" sz="1200"/>
          </a:p>
          <a:p>
            <a:r>
              <a:rPr lang="es-ES" sz="1200" b="1" dirty="0"/>
              <a:t>QUÉ COMUNICA</a:t>
            </a:r>
          </a:p>
          <a:p>
            <a:r>
              <a:rPr lang="es-ES" sz="1200" b="0" dirty="0"/>
              <a:t>El espejo del anterior: mismo proyecto, misma cabecera, página completamente distinta, centrada en lo que el activo gana.</a:t>
            </a:r>
          </a:p>
          <a:p>
            <a:endParaRPr lang="es-ES" sz="1200"/>
          </a:p>
          <a:p>
            <a:r>
              <a:rPr lang="es-ES" sz="1200" b="1" dirty="0"/>
              <a:t>POR QUÉ ESTÁ AQUÍ</a:t>
            </a:r>
          </a:p>
          <a:p>
            <a:r>
              <a:rPr lang="es-ES" sz="1200" b="0" dirty="0"/>
              <a:t>Confirma la simetría del diseño. Ninguno de los dos motores es el principal y el otro un añadido; la Suite trata a ambos igual.</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Estados vacíos y no disponibles</a:t>
            </a:r>
          </a:p>
          <a:p>
            <a:endParaRPr lang="es-ES" sz="1200"/>
          </a:p>
          <a:p>
            <a:r>
              <a:rPr lang="es-ES" sz="1200" b="1" dirty="0"/>
              <a:t>QUÉ COMUNICA</a:t>
            </a:r>
          </a:p>
          <a:p>
            <a:r>
              <a:rPr lang="es-ES" sz="1200" b="0" dirty="0"/>
              <a:t>El catálogo de estados: qué se muestra cuando un dominio aún no tiene trabajo y qué cuando el usuario no dispone de esa licencia.</a:t>
            </a:r>
          </a:p>
          <a:p>
            <a:endParaRPr lang="es-ES" sz="1200"/>
          </a:p>
          <a:p>
            <a:r>
              <a:rPr lang="es-ES" sz="1200" b="1" dirty="0"/>
              <a:t>POR QUÉ ESTÁ AQUÍ</a:t>
            </a:r>
          </a:p>
          <a:p>
            <a:r>
              <a:rPr lang="es-ES" sz="1200" b="0" dirty="0"/>
              <a:t>Con dos motores y dos licencias, los estados intermedios son la norma, no la excepción. Resolverlos como sistema — y no pantalla por pantalla — es lo que evita que el producto se sienta roto en el uso real.</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Administración y licencias</a:t>
            </a:r>
          </a:p>
          <a:p>
            <a:endParaRPr lang="es-ES" sz="1200"/>
          </a:p>
          <a:p>
            <a:r>
              <a:rPr lang="es-ES" sz="1200" b="1" dirty="0"/>
              <a:t>QUÉ COMUNICA</a:t>
            </a:r>
          </a:p>
          <a:p>
            <a:r>
              <a:rPr lang="es-ES" sz="1200" b="0" dirty="0"/>
              <a:t>Visibilidad de derechos: qué productos tiene contratados la organización y qué licencias tiene cada miembro.</a:t>
            </a:r>
          </a:p>
          <a:p>
            <a:endParaRPr lang="es-ES" sz="1200"/>
          </a:p>
          <a:p>
            <a:r>
              <a:rPr lang="es-ES" sz="1200" b="1" dirty="0"/>
              <a:t>POR QUÉ ESTÁ AQUÍ</a:t>
            </a:r>
          </a:p>
          <a:p>
            <a:r>
              <a:rPr lang="es-ES" sz="1200" b="0" dirty="0"/>
              <a:t>Explica por qué dos personas ven el mismo proyecto de forma distinta. Sin esta pantalla, las diferencias de las dos diapositivas anteriores parecerían inconsistencias del producto.</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Patrones — atribución de origen</a:t>
            </a:r>
          </a:p>
          <a:p>
            <a:endParaRPr lang="es-ES" sz="1200"/>
          </a:p>
          <a:p>
            <a:r>
              <a:rPr lang="es-ES" sz="1200" b="1" dirty="0"/>
              <a:t>QUÉ COMUNICA</a:t>
            </a:r>
          </a:p>
          <a:p>
            <a:r>
              <a:rPr lang="es-ES" sz="1200" b="0" dirty="0"/>
              <a:t>Los dos componentes que sostienen la coherencia del sistema: el chip de origen y la línea de contexto entre productos, con la regla de frontera al pie.</a:t>
            </a:r>
          </a:p>
          <a:p>
            <a:endParaRPr lang="es-ES" sz="1200"/>
          </a:p>
          <a:p>
            <a:r>
              <a:rPr lang="es-ES" sz="1200" b="1" dirty="0"/>
              <a:t>POR QUÉ ESTÁ AQUÍ</a:t>
            </a:r>
          </a:p>
          <a:p>
            <a:r>
              <a:rPr lang="es-ES" sz="1200" b="0" dirty="0"/>
              <a:t>Es el vocabulario visual que hace legible todo lo anterior. Cada cifra de la propuesta declara de dónde viene con el mismo componente, y esa consistencia es lo que permite mezclar datos de dos motores sin que el usuario se pierda.</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otas"/>
          <p:cNvSpPr>
            <a:spLocks noGrp="1"/>
          </p:cNvSpPr>
          <p:nvPr>
            <p:ph type="body" idx="1"/>
          </p:nvPr>
        </p:nvSpPr>
        <p:spPr/>
        <p:txBody>
          <a:bodyPr/>
          <a:lstStyle/>
          <a:p>
            <a:r>
              <a:rPr lang="es-ES" sz="1200" b="1" dirty="0"/>
              <a:t>Cierre</a:t>
            </a:r>
          </a:p>
          <a:p>
            <a:endParaRPr lang="es-ES" sz="1200"/>
          </a:p>
          <a:p>
            <a:r>
              <a:rPr lang="es-ES" sz="1200" b="1" dirty="0"/>
              <a:t>QUÉ COMUNICA</a:t>
            </a:r>
          </a:p>
          <a:p>
            <a:r>
              <a:rPr lang="es-ES" sz="1200" b="0" dirty="0"/>
              <a:t>La propuesta en una frase, y el recorrido completo Modelar → Entender → Comparar → Decidir → Modelar.</a:t>
            </a:r>
          </a:p>
          <a:p>
            <a:endParaRPr lang="es-ES" sz="1200"/>
          </a:p>
          <a:p>
            <a:r>
              <a:rPr lang="es-ES" sz="1200" b="1" dirty="0"/>
              <a:t>POR QUÉ ESTÁ AQUÍ</a:t>
            </a:r>
          </a:p>
          <a:p>
            <a:r>
              <a:rPr lang="es-ES" sz="1200" b="0" dirty="0"/>
              <a:t>Deja al cliente con el reparto de responsabilidades como idea final: los motores modelan, la Suite conecta y la persona decide. El pie advierte que las cifras del prototipo son ilustrativas y deben validarse contra los datos reales.</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F4F8"/>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sz="2400"/>
      </a:lvl1pPr>
    </p:titleStyle>
    <p:bodyStyle>
      <a:lvl1pPr>
        <a:defRPr sz="1200"/>
      </a:lvl1pPr>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image" Target="../media/image4.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image" Target="../media/image5.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image" Target="../media/image6.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image" Target="../media/image7.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image" Target="../media/image8.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image" Target="../media/image9.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image" Target="../media/image10.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image" Target="../media/image13.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image" Target="../media/image14.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image" Target="../media/image15.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image" Target="../media/image16.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image" Target="../media/image17.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image" Target="../media/image18.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image" Target="../media/image19.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image" Target="../media/image20.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image" Target="../media/image22.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image" Target="../media/image23.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image" Target="../media/image24.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image" Target="../media/image25.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image" Target="../media/image26.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image" Target="../media/image27.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image" Target="../media/image28.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image" Target="../media/image29.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image" Target="../media/image30.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image" Target="../media/image32.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image" Target="../media/image33.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image" Target="../media/image34.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image" Target="../media/image35.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image" Target="../media/image36.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Relationships xmlns="http://schemas.openxmlformats.org/package/2006/relationships"><Relationship Id="rId1" Type="http://schemas.openxmlformats.org/officeDocument/2006/relationships/image" Target="../media/image37.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Relationships xmlns="http://schemas.openxmlformats.org/package/2006/relationships"><Relationship Id="rId1" Type="http://schemas.openxmlformats.org/officeDocument/2006/relationships/image" Target="../media/image38.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Relationships xmlns="http://schemas.openxmlformats.org/package/2006/relationships"><Relationship Id="rId1" Type="http://schemas.openxmlformats.org/officeDocument/2006/relationships/image" Target="../media/image39.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Relationships xmlns="http://schemas.openxmlformats.org/package/2006/relationships"><Relationship Id="rId1" Type="http://schemas.openxmlformats.org/officeDocument/2006/relationships/image" Target="../media/image40.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Relationships xmlns="http://schemas.openxmlformats.org/package/2006/relationships"><Relationship Id="rId1" Type="http://schemas.openxmlformats.org/officeDocument/2006/relationships/image" Target="../media/image42.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Relationships xmlns="http://schemas.openxmlformats.org/package/2006/relationships"><Relationship Id="rId1" Type="http://schemas.openxmlformats.org/officeDocument/2006/relationships/image" Target="../media/image43.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Relationships xmlns="http://schemas.openxmlformats.org/package/2006/relationships"><Relationship Id="rId1" Type="http://schemas.openxmlformats.org/officeDocument/2006/relationships/image" Target="../media/image44.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Relationships xmlns="http://schemas.openxmlformats.org/package/2006/relationships"><Relationship Id="rId1" Type="http://schemas.openxmlformats.org/officeDocument/2006/relationships/image" Target="../media/image45.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Relationships xmlns="http://schemas.openxmlformats.org/package/2006/relationships"><Relationship Id="rId1" Type="http://schemas.openxmlformats.org/officeDocument/2006/relationships/image" Target="../media/image46.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Relationships xmlns="http://schemas.openxmlformats.org/package/2006/relationships"><Relationship Id="rId1" Type="http://schemas.openxmlformats.org/officeDocument/2006/relationships/image" Target="../media/image47.jp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Relationships xmlns="http://schemas.openxmlformats.org/package/2006/relationships"><Relationship Id="rId1" Type="http://schemas.openxmlformats.org/officeDocument/2006/relationships/image" Target="../media/image48.jp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15" y="0"/>
            <a:ext cx="12191999"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15" y="0"/>
            <a:ext cx="12191999"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15" y="0"/>
            <a:ext cx="12191999"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1476278" y="493776"/>
            <a:ext cx="9236394" cy="6144767"/>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Concepto   </a:t>
            </a:r>
            <a:r>
              <a:rPr lang="es-ES" sz="1000" b="1" dirty="0">
                <a:solidFill>
                  <a:srgbClr val="1C2B3A"/>
                </a:solidFill>
                <a:latin typeface="Inter"/>
              </a:rPr>
              <a:t>Flujos de extremo a extremo</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1 / 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365760" y="1091672"/>
            <a:ext cx="11457432" cy="4948974"/>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Concepto   </a:t>
            </a:r>
            <a:r>
              <a:rPr lang="es-ES" sz="1000" b="1" dirty="0">
                <a:solidFill>
                  <a:srgbClr val="1C2B3A"/>
                </a:solidFill>
                <a:latin typeface="Inter"/>
              </a:rPr>
              <a:t>Flujos de extremo a extremo</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2 / 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1093459" y="493776"/>
            <a:ext cx="10002033" cy="6144767"/>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La Suite   </a:t>
            </a:r>
            <a:r>
              <a:rPr lang="es-ES" sz="1000" b="1" dirty="0">
                <a:solidFill>
                  <a:srgbClr val="1C2B3A"/>
                </a:solidFill>
                <a:latin typeface="Inter"/>
              </a:rPr>
              <a:t>Home</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1 / 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365760" y="1067803"/>
            <a:ext cx="11457432" cy="4996713"/>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La Suite   </a:t>
            </a:r>
            <a:r>
              <a:rPr lang="es-ES" sz="1000" b="1" dirty="0">
                <a:solidFill>
                  <a:srgbClr val="1C2B3A"/>
                </a:solidFill>
                <a:latin typeface="Inter"/>
              </a:rPr>
              <a:t>Home</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2 / 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564184" y="493776"/>
            <a:ext cx="11060582" cy="614476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La Suite   </a:t>
            </a:r>
            <a:r>
              <a:rPr lang="es-ES" sz="1000" b="1" dirty="0">
                <a:solidFill>
                  <a:srgbClr val="1C2B3A"/>
                </a:solidFill>
                <a:latin typeface="Inter"/>
              </a:rPr>
              <a:t>Projects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1923294" y="493776"/>
            <a:ext cx="8342362" cy="6144767"/>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La Suite   </a:t>
            </a:r>
            <a:r>
              <a:rPr lang="es-ES" sz="1000" b="1" dirty="0">
                <a:solidFill>
                  <a:srgbClr val="1C2B3A"/>
                </a:solidFill>
                <a:latin typeface="Inter"/>
              </a:rPr>
              <a:t>Create project</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1 / 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365760" y="2049111"/>
            <a:ext cx="11457432" cy="3034097"/>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La Suite   </a:t>
            </a:r>
            <a:r>
              <a:rPr lang="es-ES" sz="1000" b="1" dirty="0">
                <a:solidFill>
                  <a:srgbClr val="1C2B3A"/>
                </a:solidFill>
                <a:latin typeface="Inter"/>
              </a:rPr>
              <a:t>Create project</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2 / 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1579952" y="493776"/>
            <a:ext cx="9029046" cy="6144767"/>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La Suite   </a:t>
            </a:r>
            <a:r>
              <a:rPr lang="es-ES" sz="1000" b="1" dirty="0">
                <a:solidFill>
                  <a:srgbClr val="1C2B3A"/>
                </a:solidFill>
                <a:latin typeface="Inter"/>
              </a:rPr>
              <a:t>Analytics</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1 / 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2115849" y="493776"/>
            <a:ext cx="7957253" cy="614476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La Suite   </a:t>
            </a:r>
            <a:r>
              <a:rPr lang="es-ES" sz="1000" b="1" dirty="0">
                <a:solidFill>
                  <a:srgbClr val="1C2B3A"/>
                </a:solidFill>
                <a:latin typeface="Inter"/>
              </a:rPr>
              <a:t>Analytics</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2 / 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1009150" y="493776"/>
            <a:ext cx="10170650" cy="614476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La Suite   </a:t>
            </a:r>
            <a:r>
              <a:rPr lang="es-ES" sz="1000" b="1" dirty="0">
                <a:solidFill>
                  <a:srgbClr val="1C2B3A"/>
                </a:solidFill>
                <a:latin typeface="Inter"/>
              </a:rPr>
              <a:t>Files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1417696" y="493776"/>
            <a:ext cx="9353558" cy="614476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La Suite   </a:t>
            </a:r>
            <a:r>
              <a:rPr lang="es-ES" sz="1000" b="1" dirty="0">
                <a:solidFill>
                  <a:srgbClr val="1C2B3A"/>
                </a:solidFill>
                <a:latin typeface="Inter"/>
              </a:rPr>
              <a:t>Activity</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1 / 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365760" y="1977502"/>
            <a:ext cx="11457432" cy="3177315"/>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La Suite   </a:t>
            </a:r>
            <a:r>
              <a:rPr lang="es-ES" sz="1000" b="1" dirty="0">
                <a:solidFill>
                  <a:srgbClr val="1C2B3A"/>
                </a:solidFill>
                <a:latin typeface="Inter"/>
              </a:rPr>
              <a:t>Activity</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2 / 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1243343" y="493775"/>
            <a:ext cx="9702265" cy="614476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Project workspace   </a:t>
            </a:r>
            <a:r>
              <a:rPr lang="es-ES" sz="1000" b="1" dirty="0">
                <a:solidFill>
                  <a:srgbClr val="1C2B3A"/>
                </a:solidFill>
                <a:latin typeface="Inter"/>
              </a:rPr>
              <a:t>Overview</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1 / 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365760" y="1492152"/>
            <a:ext cx="11457432" cy="4148014"/>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Project workspace   </a:t>
            </a:r>
            <a:r>
              <a:rPr lang="es-ES" sz="1000" b="1" dirty="0">
                <a:solidFill>
                  <a:srgbClr val="1C2B3A"/>
                </a:solidFill>
                <a:latin typeface="Inter"/>
              </a:rPr>
              <a:t>Overview</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2 / 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1175017" y="493776"/>
            <a:ext cx="9838916" cy="614476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Project workspace   </a:t>
            </a:r>
            <a:r>
              <a:rPr lang="es-ES" sz="1000" b="1" dirty="0">
                <a:solidFill>
                  <a:srgbClr val="1C2B3A"/>
                </a:solidFill>
                <a:latin typeface="Inter"/>
              </a:rPr>
              <a:t>Overview</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3 / 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365760" y="1004150"/>
            <a:ext cx="11457432" cy="512401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Project workspace   </a:t>
            </a:r>
            <a:r>
              <a:rPr lang="es-ES" sz="1000" b="1" dirty="0">
                <a:solidFill>
                  <a:srgbClr val="1C2B3A"/>
                </a:solidFill>
                <a:latin typeface="Inter"/>
              </a:rPr>
              <a:t>Cambiar simulación técnica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365760" y="1004150"/>
            <a:ext cx="11457432" cy="512401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Project workspace   </a:t>
            </a:r>
            <a:r>
              <a:rPr lang="es-ES" sz="1000" b="1" dirty="0">
                <a:solidFill>
                  <a:srgbClr val="1C2B3A"/>
                </a:solidFill>
                <a:latin typeface="Inter"/>
              </a:rPr>
              <a:t>Cambiar caso financiero</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2015588" y="493775"/>
            <a:ext cx="8157774" cy="614476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Project workspace   </a:t>
            </a:r>
            <a:r>
              <a:rPr lang="es-ES" sz="1000" b="1" dirty="0">
                <a:solidFill>
                  <a:srgbClr val="1C2B3A"/>
                </a:solidFill>
                <a:latin typeface="Inter"/>
              </a:rPr>
              <a:t>Detalle técnico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1832209" y="493775"/>
            <a:ext cx="8524533" cy="614476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Project workspace   </a:t>
            </a:r>
            <a:r>
              <a:rPr lang="es-ES" sz="1000" b="1" dirty="0">
                <a:solidFill>
                  <a:srgbClr val="1C2B3A"/>
                </a:solidFill>
                <a:latin typeface="Inter"/>
              </a:rPr>
              <a:t>Desglose financiero</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1670243" y="493776"/>
            <a:ext cx="8848465" cy="614476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Project workspace   </a:t>
            </a:r>
            <a:r>
              <a:rPr lang="es-ES" sz="1000" b="1" dirty="0">
                <a:solidFill>
                  <a:srgbClr val="1C2B3A"/>
                </a:solidFill>
                <a:latin typeface="Inter"/>
              </a:rPr>
              <a:t>Fuera de sincronía</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1 / 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365760" y="1492152"/>
            <a:ext cx="11457432" cy="4148014"/>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Project workspace   </a:t>
            </a:r>
            <a:r>
              <a:rPr lang="es-ES" sz="1000" b="1" dirty="0">
                <a:solidFill>
                  <a:srgbClr val="1C2B3A"/>
                </a:solidFill>
                <a:latin typeface="Inter"/>
              </a:rPr>
              <a:t>Fuera de sincronía</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2 / 3</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1185933" y="493775"/>
            <a:ext cx="9817084" cy="614476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Project workspace   </a:t>
            </a:r>
            <a:r>
              <a:rPr lang="es-ES" sz="1000" b="1" dirty="0">
                <a:solidFill>
                  <a:srgbClr val="1C2B3A"/>
                </a:solidFill>
                <a:latin typeface="Inter"/>
              </a:rPr>
              <a:t>Fuera de sincronía</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3 / 3</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1912781" y="493776"/>
            <a:ext cx="8363389" cy="614476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Project workspace   </a:t>
            </a:r>
            <a:r>
              <a:rPr lang="es-ES" sz="1000" b="1" dirty="0">
                <a:solidFill>
                  <a:srgbClr val="1C2B3A"/>
                </a:solidFill>
                <a:latin typeface="Inter"/>
              </a:rPr>
              <a:t>Case matrix</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1 / 3</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365760" y="821150"/>
            <a:ext cx="11457432" cy="5490019"/>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Project workspace   </a:t>
            </a:r>
            <a:r>
              <a:rPr lang="es-ES" sz="1000" b="1" dirty="0">
                <a:solidFill>
                  <a:srgbClr val="1C2B3A"/>
                </a:solidFill>
                <a:latin typeface="Inter"/>
              </a:rPr>
              <a:t>Case matrix</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2 / 3</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365760" y="640801"/>
            <a:ext cx="11457432" cy="5850716"/>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Project workspace   </a:t>
            </a:r>
            <a:r>
              <a:rPr lang="es-ES" sz="1000" b="1" dirty="0">
                <a:solidFill>
                  <a:srgbClr val="1C2B3A"/>
                </a:solidFill>
                <a:latin typeface="Inter"/>
              </a:rPr>
              <a:t>Case matrix</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3 / 3</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365760" y="956411"/>
            <a:ext cx="11457432" cy="5219496"/>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Project workspace   </a:t>
            </a:r>
            <a:r>
              <a:rPr lang="es-ES" sz="1000" b="1" dirty="0">
                <a:solidFill>
                  <a:srgbClr val="1C2B3A"/>
                </a:solidFill>
                <a:latin typeface="Inter"/>
              </a:rPr>
              <a:t>Crear analysis case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365760" y="571845"/>
            <a:ext cx="11457432" cy="5988629"/>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Project workspace   </a:t>
            </a:r>
            <a:r>
              <a:rPr lang="es-ES" sz="1000" b="1" dirty="0">
                <a:solidFill>
                  <a:srgbClr val="1C2B3A"/>
                </a:solidFill>
                <a:latin typeface="Inter"/>
              </a:rPr>
              <a:t>Compare</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1 / 4</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365760" y="879498"/>
            <a:ext cx="11457432" cy="5373323"/>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Project workspace   </a:t>
            </a:r>
            <a:r>
              <a:rPr lang="es-ES" sz="1000" b="1" dirty="0">
                <a:solidFill>
                  <a:srgbClr val="1C2B3A"/>
                </a:solidFill>
                <a:latin typeface="Inter"/>
              </a:rPr>
              <a:t>Compare</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2 / 4</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1542795" y="493775"/>
            <a:ext cx="9103360" cy="614476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Project workspace   </a:t>
            </a:r>
            <a:r>
              <a:rPr lang="es-ES" sz="1000" b="1" dirty="0">
                <a:solidFill>
                  <a:srgbClr val="1C2B3A"/>
                </a:solidFill>
                <a:latin typeface="Inter"/>
              </a:rPr>
              <a:t>Compare</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3 / 4</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1837677" y="493776"/>
            <a:ext cx="8513597" cy="614476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Project workspace   </a:t>
            </a:r>
            <a:r>
              <a:rPr lang="es-ES" sz="1000" b="1" dirty="0">
                <a:solidFill>
                  <a:srgbClr val="1C2B3A"/>
                </a:solidFill>
                <a:latin typeface="Inter"/>
              </a:rPr>
              <a:t>Compare</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4 / 4</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365760" y="786671"/>
            <a:ext cx="11457432" cy="5558976"/>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Project workspace   </a:t>
            </a:r>
            <a:r>
              <a:rPr lang="es-ES" sz="1000" b="1" dirty="0">
                <a:solidFill>
                  <a:srgbClr val="1C2B3A"/>
                </a:solidFill>
                <a:latin typeface="Inter"/>
              </a:rPr>
              <a:t>Explicar una diferencia</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1 / 5</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1918044" y="493776"/>
            <a:ext cx="8352862" cy="614476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Project workspace   </a:t>
            </a:r>
            <a:r>
              <a:rPr lang="es-ES" sz="1000" b="1" dirty="0">
                <a:solidFill>
                  <a:srgbClr val="1C2B3A"/>
                </a:solidFill>
                <a:latin typeface="Inter"/>
              </a:rPr>
              <a:t>Explicar una diferencia</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2 / 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2470036" y="493776"/>
            <a:ext cx="7248879" cy="614476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Project workspace   </a:t>
            </a:r>
            <a:r>
              <a:rPr lang="es-ES" sz="1000" b="1" dirty="0">
                <a:solidFill>
                  <a:srgbClr val="1C2B3A"/>
                </a:solidFill>
                <a:latin typeface="Inter"/>
              </a:rPr>
              <a:t>Explicar una diferencia</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3 / 5</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2668379" y="493776"/>
            <a:ext cx="6852193" cy="614476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Project workspace   </a:t>
            </a:r>
            <a:r>
              <a:rPr lang="es-ES" sz="1000" b="1" dirty="0">
                <a:solidFill>
                  <a:srgbClr val="1C2B3A"/>
                </a:solidFill>
                <a:latin typeface="Inter"/>
              </a:rPr>
              <a:t>Explicar una diferencia</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4 / 5</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2831767" y="493776"/>
            <a:ext cx="6525417" cy="614476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Project workspace   </a:t>
            </a:r>
            <a:r>
              <a:rPr lang="es-ES" sz="1000" b="1" dirty="0">
                <a:solidFill>
                  <a:srgbClr val="1C2B3A"/>
                </a:solidFill>
                <a:latin typeface="Inter"/>
              </a:rPr>
              <a:t>Explicar una diferencia</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5 / 5</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1089687" y="493776"/>
            <a:ext cx="10009576" cy="614476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Project workspace   </a:t>
            </a:r>
            <a:r>
              <a:rPr lang="es-ES" sz="1000" b="1" dirty="0">
                <a:solidFill>
                  <a:srgbClr val="1C2B3A"/>
                </a:solidFill>
                <a:latin typeface="Inter"/>
              </a:rPr>
              <a:t>Settings</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1 / 2</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925979" y="493776"/>
            <a:ext cx="10336992" cy="6144767"/>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Project workspace   </a:t>
            </a:r>
            <a:r>
              <a:rPr lang="es-ES" sz="1000" b="1" dirty="0">
                <a:solidFill>
                  <a:srgbClr val="1C2B3A"/>
                </a:solidFill>
                <a:latin typeface="Inter"/>
              </a:rPr>
              <a:t>Settings</a:t>
            </a:r>
          </a:p>
        </p:txBody>
      </p:sp>
      <p:sp>
        <p:nvSpPr>
          <p:cNvPr id="11" name="Indice"/>
          <p:cNvSpPr txBox="1"/>
          <p:nvPr/>
        </p:nvSpPr>
        <p:spPr>
          <a:xfrm>
            <a:off x="8229600" y="118872"/>
            <a:ext cx="3557016" cy="310896"/>
          </a:xfrm>
          <a:prstGeom prst="rect">
            <a:avLst/>
          </a:prstGeom>
          <a:noFill/>
        </p:spPr>
        <p:txBody>
          <a:bodyPr wrap="square" anchor="ctr">
            <a:noAutofit/>
          </a:bodyPr>
          <a:lstStyle/>
          <a:p>
            <a:pPr algn="r"/>
            <a:r>
              <a:rPr lang="es-ES" sz="1000" b="0" dirty="0">
                <a:solidFill>
                  <a:srgbClr val="7C8A99"/>
                </a:solidFill>
                <a:latin typeface="Inter"/>
              </a:rPr>
              <a:t>2 / 2</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1722704" y="493776"/>
            <a:ext cx="8743543" cy="614476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Project workspace   </a:t>
            </a:r>
            <a:r>
              <a:rPr lang="es-ES" sz="1000" b="1" dirty="0">
                <a:solidFill>
                  <a:srgbClr val="1C2B3A"/>
                </a:solidFill>
                <a:latin typeface="Inter"/>
              </a:rPr>
              <a:t>Detalles del proyecto</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1756992" y="493776"/>
            <a:ext cx="8674966" cy="614476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Estados y licencias   </a:t>
            </a:r>
            <a:r>
              <a:rPr lang="es-ES" sz="1000" b="1" dirty="0">
                <a:solidFill>
                  <a:srgbClr val="1C2B3A"/>
                </a:solidFill>
                <a:latin typeface="Inter"/>
              </a:rPr>
              <a:t>Proyecto nuevo</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2313080" y="493776"/>
            <a:ext cx="7562791" cy="614476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Estados y licencias   </a:t>
            </a:r>
            <a:r>
              <a:rPr lang="es-ES" sz="1000" b="1" dirty="0">
                <a:solidFill>
                  <a:srgbClr val="1C2B3A"/>
                </a:solidFill>
                <a:latin typeface="Inter"/>
              </a:rPr>
              <a:t>Licencia de ingeniería</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2213569" y="493775"/>
            <a:ext cx="7761812" cy="614476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Estados y licencias   </a:t>
            </a:r>
            <a:r>
              <a:rPr lang="es-ES" sz="1000" b="1" dirty="0">
                <a:solidFill>
                  <a:srgbClr val="1C2B3A"/>
                </a:solidFill>
                <a:latin typeface="Inter"/>
              </a:rPr>
              <a:t>Licencia financiera</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889496" y="493776"/>
            <a:ext cx="10409959" cy="614476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Estados y licencias   </a:t>
            </a:r>
            <a:r>
              <a:rPr lang="es-ES" sz="1000" b="1" dirty="0">
                <a:solidFill>
                  <a:srgbClr val="1C2B3A"/>
                </a:solidFill>
                <a:latin typeface="Inter"/>
              </a:rPr>
              <a:t>Estados vacíos y no disponibles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2407615" y="493776"/>
            <a:ext cx="7373721" cy="614476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Estados y licencias   </a:t>
            </a:r>
            <a:r>
              <a:rPr lang="es-ES" sz="1000" b="1" dirty="0">
                <a:solidFill>
                  <a:srgbClr val="1C2B3A"/>
                </a:solidFill>
                <a:latin typeface="Inter"/>
              </a:rPr>
              <a:t>Administración y licencias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3756050" y="493776"/>
            <a:ext cx="4676851" cy="6144768"/>
          </a:xfrm>
          <a:prstGeom prst="rect">
            <a:avLst/>
          </a:prstGeom>
        </p:spPr>
      </p:pic>
      <p:sp>
        <p:nvSpPr>
          <p:cNvPr id="10" name="Titulo"/>
          <p:cNvSpPr txBox="1"/>
          <p:nvPr/>
        </p:nvSpPr>
        <p:spPr>
          <a:xfrm>
            <a:off x="402336" y="118872"/>
            <a:ext cx="7680960" cy="310896"/>
          </a:xfrm>
          <a:prstGeom prst="rect">
            <a:avLst/>
          </a:prstGeom>
          <a:noFill/>
        </p:spPr>
        <p:txBody>
          <a:bodyPr wrap="square" anchor="ctr">
            <a:noAutofit/>
          </a:bodyPr>
          <a:lstStyle/>
          <a:p>
            <a:pPr algn="l"/>
            <a:r>
              <a:rPr lang="es-ES" sz="1000" b="0" dirty="0">
                <a:solidFill>
                  <a:srgbClr val="7C8A99"/>
                </a:solidFill>
                <a:latin typeface="Inter"/>
              </a:rPr>
              <a:t>Estados y licencias   </a:t>
            </a:r>
            <a:r>
              <a:rPr lang="es-ES" sz="1000" b="1" dirty="0">
                <a:solidFill>
                  <a:srgbClr val="1C2B3A"/>
                </a:solidFill>
                <a:latin typeface="Inter"/>
              </a:rPr>
              <a:t>Patrones de origen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ntalla"/>
          <p:cNvPicPr>
            <a:picLocks noChangeAspect="1"/>
          </p:cNvPicPr>
          <p:nvPr/>
        </p:nvPicPr>
        <p:blipFill>
          <a:blip r:embed="rId1"/>
          <a:stretch>
            <a:fillRect/>
          </a:stretch>
        </p:blipFill>
        <p:spPr>
          <a:xfrm>
            <a:off x="-15" y="0"/>
            <a:ext cx="12191999" cy="6858000"/>
          </a:xfrm>
          <a:prstGeom prst="rect">
            <a:avLst/>
          </a:prstGeom>
        </p:spPr>
      </p:pic>
    </p:spTree>
  </p:cSld>
  <p:clrMapOvr>
    <a:masterClrMapping/>
  </p:clrMapOvr>
</p:sld>
</file>

<file path=ppt/theme/theme1.xml><?xml version="1.0" encoding="utf-8"?>
<a:theme xmlns:a="http://schemas.openxmlformats.org/drawingml/2006/main" name="Sunveon">
  <a:themeElements>
    <a:clrScheme name="Sunveon">
      <a:dk1>
        <a:sysClr val="windowText" lastClr="000000"/>
      </a:dk1>
      <a:lt1>
        <a:sysClr val="window" lastClr="FFFFFF"/>
      </a:lt1>
      <a:dk2>
        <a:srgbClr val="1C2B3A"/>
      </a:dk2>
      <a:lt2>
        <a:srgbClr val="EEF4F8"/>
      </a:lt2>
      <a:accent1>
        <a:srgbClr val="0E9DA8"/>
      </a:accent1>
      <a:accent2>
        <a:srgbClr val="1F6FD0"/>
      </a:accent2>
      <a:accent3>
        <a:srgbClr val="B5259E"/>
      </a:accent3>
      <a:accent4>
        <a:srgbClr val="2ED3C6"/>
      </a:accent4>
      <a:accent5>
        <a:srgbClr val="7C8A99"/>
      </a:accent5>
      <a:accent6>
        <a:srgbClr val="C9D6E0"/>
      </a:accent6>
      <a:hlink>
        <a:srgbClr val="1F6FD0"/>
      </a:hlink>
      <a:folHlink>
        <a:srgbClr val="7C8A99"/>
      </a:folHlink>
    </a:clrScheme>
    <a:fontScheme name="Sunveon">
      <a:majorFont>
        <a:latin typeface="Inter"/>
        <a:ea typeface=""/>
        <a:cs typeface=""/>
      </a:majorFont>
      <a:minorFont>
        <a:latin typeface="Inter"/>
        <a:ea typeface=""/>
        <a:cs typeface=""/>
      </a:minorFont>
    </a:fontScheme>
    <a:fmtScheme name="Sunveon">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Slides>48</Slides>
</Properties>
</file>

<file path=docProps/core.xml><?xml version="1.0" encoding="utf-8"?>
<cp:coreProperties xmlns:cp="http://schemas.openxmlformats.org/package/2006/metadata/core-properties" xmlns:dc="http://purl.org/dc/elements/1.1/" xmlns:dcterms="http://purl.org/dc/terms/" xmlns:xsi="http://www.w3.org/2001/XMLSchema-instance">
  <dc:title>Sunveon Suite — Integración UX StoreBrid + ReveNew</dc:title>
  <dc:subject>Propuesta de integración UX. Arquitectura de información, flujos y pantallas.</dc:subject>
  <cp:lastModifiedBy>Sunveon</cp:lastModifiedBy>
  <dcterms:created xsi:type="dcterms:W3CDTF">2026-08-23T08:56:30Z</dcterms:created>
  <dcterms:modified xsi:type="dcterms:W3CDTF">2026-08-23T08:56:30Z</dcterms:modified>
</cp:coreProperties>
</file>